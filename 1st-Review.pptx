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4" r:id="rId6"/>
    <p:sldId id="260" r:id="rId7"/>
    <p:sldId id="261" r:id="rId8"/>
    <p:sldId id="262" r:id="rId9"/>
    <p:sldId id="263" r:id="rId10"/>
    <p:sldId id="265" r:id="rId11"/>
    <p:sldId id="26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5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8" d="100"/>
          <a:sy n="68" d="100"/>
        </p:scale>
        <p:origin x="616" y="92"/>
      </p:cViewPr>
      <p:guideLst>
        <p:guide orient="horz" pos="2160"/>
        <p:guide pos="385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seela K T" userId="3d28eb2928cf7789" providerId="LiveId" clId="{28CAA849-0574-499B-8FCF-B7E27B460FCE}"/>
    <pc:docChg chg="undo custSel modSld">
      <pc:chgData name="Naseela K T" userId="3d28eb2928cf7789" providerId="LiveId" clId="{28CAA849-0574-499B-8FCF-B7E27B460FCE}" dt="2021-04-15T16:14:17.632" v="558" actId="255"/>
      <pc:docMkLst>
        <pc:docMk/>
      </pc:docMkLst>
      <pc:sldChg chg="modSp mod">
        <pc:chgData name="Naseela K T" userId="3d28eb2928cf7789" providerId="LiveId" clId="{28CAA849-0574-499B-8FCF-B7E27B460FCE}" dt="2021-04-15T15:19:05.666" v="96" actId="20577"/>
        <pc:sldMkLst>
          <pc:docMk/>
          <pc:sldMk cId="0" sldId="256"/>
        </pc:sldMkLst>
        <pc:spChg chg="mod">
          <ac:chgData name="Naseela K T" userId="3d28eb2928cf7789" providerId="LiveId" clId="{28CAA849-0574-499B-8FCF-B7E27B460FCE}" dt="2021-04-15T15:19:05.666" v="96" actId="20577"/>
          <ac:spMkLst>
            <pc:docMk/>
            <pc:sldMk cId="0" sldId="256"/>
            <ac:spMk id="2" creationId="{00000000-0000-0000-0000-000000000000}"/>
          </ac:spMkLst>
        </pc:spChg>
      </pc:sldChg>
      <pc:sldChg chg="modSp mod">
        <pc:chgData name="Naseela K T" userId="3d28eb2928cf7789" providerId="LiveId" clId="{28CAA849-0574-499B-8FCF-B7E27B460FCE}" dt="2021-04-15T16:07:08.606" v="519" actId="27636"/>
        <pc:sldMkLst>
          <pc:docMk/>
          <pc:sldMk cId="0" sldId="257"/>
        </pc:sldMkLst>
        <pc:spChg chg="mod">
          <ac:chgData name="Naseela K T" userId="3d28eb2928cf7789" providerId="LiveId" clId="{28CAA849-0574-499B-8FCF-B7E27B460FCE}" dt="2021-04-15T16:07:08.606" v="519" actId="27636"/>
          <ac:spMkLst>
            <pc:docMk/>
            <pc:sldMk cId="0" sldId="257"/>
            <ac:spMk id="2" creationId="{00000000-0000-0000-0000-000000000000}"/>
          </ac:spMkLst>
        </pc:spChg>
        <pc:spChg chg="mod">
          <ac:chgData name="Naseela K T" userId="3d28eb2928cf7789" providerId="LiveId" clId="{28CAA849-0574-499B-8FCF-B7E27B460FCE}" dt="2021-04-15T16:05:30.711" v="515" actId="12"/>
          <ac:spMkLst>
            <pc:docMk/>
            <pc:sldMk cId="0" sldId="257"/>
            <ac:spMk id="3" creationId="{00000000-0000-0000-0000-000000000000}"/>
          </ac:spMkLst>
        </pc:spChg>
      </pc:sldChg>
      <pc:sldChg chg="modSp mod">
        <pc:chgData name="Naseela K T" userId="3d28eb2928cf7789" providerId="LiveId" clId="{28CAA849-0574-499B-8FCF-B7E27B460FCE}" dt="2021-04-15T16:07:20.562" v="520" actId="255"/>
        <pc:sldMkLst>
          <pc:docMk/>
          <pc:sldMk cId="0" sldId="258"/>
        </pc:sldMkLst>
        <pc:spChg chg="mod">
          <ac:chgData name="Naseela K T" userId="3d28eb2928cf7789" providerId="LiveId" clId="{28CAA849-0574-499B-8FCF-B7E27B460FCE}" dt="2021-04-15T16:07:20.562" v="520" actId="255"/>
          <ac:spMkLst>
            <pc:docMk/>
            <pc:sldMk cId="0" sldId="258"/>
            <ac:spMk id="2" creationId="{00000000-0000-0000-0000-000000000000}"/>
          </ac:spMkLst>
        </pc:spChg>
      </pc:sldChg>
      <pc:sldChg chg="modSp mod">
        <pc:chgData name="Naseela K T" userId="3d28eb2928cf7789" providerId="LiveId" clId="{28CAA849-0574-499B-8FCF-B7E27B460FCE}" dt="2021-04-15T16:07:28.475" v="521" actId="255"/>
        <pc:sldMkLst>
          <pc:docMk/>
          <pc:sldMk cId="0" sldId="259"/>
        </pc:sldMkLst>
        <pc:spChg chg="mod">
          <ac:chgData name="Naseela K T" userId="3d28eb2928cf7789" providerId="LiveId" clId="{28CAA849-0574-499B-8FCF-B7E27B460FCE}" dt="2021-04-15T16:07:28.475" v="521" actId="255"/>
          <ac:spMkLst>
            <pc:docMk/>
            <pc:sldMk cId="0" sldId="259"/>
            <ac:spMk id="2" creationId="{00000000-0000-0000-0000-000000000000}"/>
          </ac:spMkLst>
        </pc:spChg>
        <pc:spChg chg="mod">
          <ac:chgData name="Naseela K T" userId="3d28eb2928cf7789" providerId="LiveId" clId="{28CAA849-0574-499B-8FCF-B7E27B460FCE}" dt="2021-04-15T16:06:48.556" v="517" actId="14100"/>
          <ac:spMkLst>
            <pc:docMk/>
            <pc:sldMk cId="0" sldId="259"/>
            <ac:spMk id="3" creationId="{00000000-0000-0000-0000-000000000000}"/>
          </ac:spMkLst>
        </pc:spChg>
      </pc:sldChg>
      <pc:sldChg chg="modSp mod">
        <pc:chgData name="Naseela K T" userId="3d28eb2928cf7789" providerId="LiveId" clId="{28CAA849-0574-499B-8FCF-B7E27B460FCE}" dt="2021-04-15T16:14:17.632" v="558" actId="255"/>
        <pc:sldMkLst>
          <pc:docMk/>
          <pc:sldMk cId="0" sldId="260"/>
        </pc:sldMkLst>
        <pc:spChg chg="mod">
          <ac:chgData name="Naseela K T" userId="3d28eb2928cf7789" providerId="LiveId" clId="{28CAA849-0574-499B-8FCF-B7E27B460FCE}" dt="2021-04-15T16:14:17.632" v="558" actId="255"/>
          <ac:spMkLst>
            <pc:docMk/>
            <pc:sldMk cId="0" sldId="260"/>
            <ac:spMk id="2" creationId="{00000000-0000-0000-0000-000000000000}"/>
          </ac:spMkLst>
        </pc:spChg>
        <pc:spChg chg="mod">
          <ac:chgData name="Naseela K T" userId="3d28eb2928cf7789" providerId="LiveId" clId="{28CAA849-0574-499B-8FCF-B7E27B460FCE}" dt="2021-04-15T15:50:04.660" v="418" actId="114"/>
          <ac:spMkLst>
            <pc:docMk/>
            <pc:sldMk cId="0" sldId="260"/>
            <ac:spMk id="3" creationId="{00000000-0000-0000-0000-000000000000}"/>
          </ac:spMkLst>
        </pc:spChg>
      </pc:sldChg>
      <pc:sldChg chg="modSp mod">
        <pc:chgData name="Naseela K T" userId="3d28eb2928cf7789" providerId="LiveId" clId="{28CAA849-0574-499B-8FCF-B7E27B460FCE}" dt="2021-04-15T16:14:06.803" v="557" actId="255"/>
        <pc:sldMkLst>
          <pc:docMk/>
          <pc:sldMk cId="0" sldId="261"/>
        </pc:sldMkLst>
        <pc:spChg chg="mod">
          <ac:chgData name="Naseela K T" userId="3d28eb2928cf7789" providerId="LiveId" clId="{28CAA849-0574-499B-8FCF-B7E27B460FCE}" dt="2021-04-15T16:14:06.803" v="557" actId="255"/>
          <ac:spMkLst>
            <pc:docMk/>
            <pc:sldMk cId="0" sldId="261"/>
            <ac:spMk id="2" creationId="{00000000-0000-0000-0000-000000000000}"/>
          </ac:spMkLst>
        </pc:spChg>
        <pc:spChg chg="mod">
          <ac:chgData name="Naseela K T" userId="3d28eb2928cf7789" providerId="LiveId" clId="{28CAA849-0574-499B-8FCF-B7E27B460FCE}" dt="2021-04-15T16:02:43.102" v="499" actId="14100"/>
          <ac:spMkLst>
            <pc:docMk/>
            <pc:sldMk cId="0" sldId="261"/>
            <ac:spMk id="3" creationId="{00000000-0000-0000-0000-000000000000}"/>
          </ac:spMkLst>
        </pc:spChg>
      </pc:sldChg>
      <pc:sldChg chg="modSp mod">
        <pc:chgData name="Naseela K T" userId="3d28eb2928cf7789" providerId="LiveId" clId="{28CAA849-0574-499B-8FCF-B7E27B460FCE}" dt="2021-04-15T16:13:58.618" v="556" actId="255"/>
        <pc:sldMkLst>
          <pc:docMk/>
          <pc:sldMk cId="0" sldId="262"/>
        </pc:sldMkLst>
        <pc:spChg chg="mod">
          <ac:chgData name="Naseela K T" userId="3d28eb2928cf7789" providerId="LiveId" clId="{28CAA849-0574-499B-8FCF-B7E27B460FCE}" dt="2021-04-15T16:13:58.618" v="556" actId="255"/>
          <ac:spMkLst>
            <pc:docMk/>
            <pc:sldMk cId="0" sldId="262"/>
            <ac:spMk id="2" creationId="{00000000-0000-0000-0000-000000000000}"/>
          </ac:spMkLst>
        </pc:spChg>
        <pc:spChg chg="mod">
          <ac:chgData name="Naseela K T" userId="3d28eb2928cf7789" providerId="LiveId" clId="{28CAA849-0574-499B-8FCF-B7E27B460FCE}" dt="2021-04-15T16:12:55.492" v="553" actId="114"/>
          <ac:spMkLst>
            <pc:docMk/>
            <pc:sldMk cId="0" sldId="262"/>
            <ac:spMk id="3" creationId="{00000000-0000-0000-0000-000000000000}"/>
          </ac:spMkLst>
        </pc:spChg>
      </pc:sldChg>
      <pc:sldChg chg="modSp mod">
        <pc:chgData name="Naseela K T" userId="3d28eb2928cf7789" providerId="LiveId" clId="{28CAA849-0574-499B-8FCF-B7E27B460FCE}" dt="2021-04-15T16:13:50.057" v="555" actId="255"/>
        <pc:sldMkLst>
          <pc:docMk/>
          <pc:sldMk cId="0" sldId="263"/>
        </pc:sldMkLst>
        <pc:spChg chg="mod">
          <ac:chgData name="Naseela K T" userId="3d28eb2928cf7789" providerId="LiveId" clId="{28CAA849-0574-499B-8FCF-B7E27B460FCE}" dt="2021-04-15T16:13:50.057" v="555" actId="255"/>
          <ac:spMkLst>
            <pc:docMk/>
            <pc:sldMk cId="0" sldId="263"/>
            <ac:spMk id="2" creationId="{00000000-0000-0000-0000-000000000000}"/>
          </ac:spMkLst>
        </pc:spChg>
      </pc:sldChg>
      <pc:sldChg chg="delSp modSp mod">
        <pc:chgData name="Naseela K T" userId="3d28eb2928cf7789" providerId="LiveId" clId="{28CAA849-0574-499B-8FCF-B7E27B460FCE}" dt="2021-04-15T16:10:11.809" v="541" actId="14100"/>
        <pc:sldMkLst>
          <pc:docMk/>
          <pc:sldMk cId="0" sldId="264"/>
        </pc:sldMkLst>
        <pc:spChg chg="del mod">
          <ac:chgData name="Naseela K T" userId="3d28eb2928cf7789" providerId="LiveId" clId="{28CAA849-0574-499B-8FCF-B7E27B460FCE}" dt="2021-04-15T16:10:06.441" v="540" actId="478"/>
          <ac:spMkLst>
            <pc:docMk/>
            <pc:sldMk cId="0" sldId="264"/>
            <ac:spMk id="2" creationId="{00000000-0000-0000-0000-000000000000}"/>
          </ac:spMkLst>
        </pc:spChg>
        <pc:spChg chg="mod">
          <ac:chgData name="Naseela K T" userId="3d28eb2928cf7789" providerId="LiveId" clId="{28CAA849-0574-499B-8FCF-B7E27B460FCE}" dt="2021-04-15T16:10:11.809" v="541" actId="14100"/>
          <ac:spMkLst>
            <pc:docMk/>
            <pc:sldMk cId="0" sldId="264"/>
            <ac:spMk id="3" creationId="{00000000-0000-0000-0000-000000000000}"/>
          </ac:spMkLst>
        </pc:spChg>
      </pc:sldChg>
      <pc:sldChg chg="modSp mod">
        <pc:chgData name="Naseela K T" userId="3d28eb2928cf7789" providerId="LiveId" clId="{28CAA849-0574-499B-8FCF-B7E27B460FCE}" dt="2021-04-15T16:13:38.585" v="554" actId="255"/>
        <pc:sldMkLst>
          <pc:docMk/>
          <pc:sldMk cId="0" sldId="265"/>
        </pc:sldMkLst>
        <pc:spChg chg="mod">
          <ac:chgData name="Naseela K T" userId="3d28eb2928cf7789" providerId="LiveId" clId="{28CAA849-0574-499B-8FCF-B7E27B460FCE}" dt="2021-04-15T16:13:38.585" v="554" actId="255"/>
          <ac:spMkLst>
            <pc:docMk/>
            <pc:sldMk cId="0" sldId="265"/>
            <ac:spMk id="2"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B36425A1-91AB-4246-8B70-7ABF5B8C469D}" type="datetimeFigureOut">
              <a:rPr lang="en-IN" smtClean="0"/>
              <a:t>15-04-2021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0175A60-5270-4127-9B16-D8F7221487A0}"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B36425A1-91AB-4246-8B70-7ABF5B8C469D}" type="datetimeFigureOut">
              <a:rPr lang="en-IN" smtClean="0"/>
              <a:t>15-04-2021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0175A60-5270-4127-9B16-D8F7221487A0}"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36425A1-91AB-4246-8B70-7ABF5B8C469D}" type="datetimeFigureOut">
              <a:rPr lang="en-IN" smtClean="0"/>
              <a:t>15-04-2021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0175A60-5270-4127-9B16-D8F7221487A0}"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B36425A1-91AB-4246-8B70-7ABF5B8C469D}" type="datetimeFigureOut">
              <a:rPr lang="en-IN" smtClean="0"/>
              <a:t>15-04-2021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0175A60-5270-4127-9B16-D8F7221487A0}"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B36425A1-91AB-4246-8B70-7ABF5B8C469D}" type="datetimeFigureOut">
              <a:rPr lang="en-IN" smtClean="0"/>
              <a:t>15-04-2021</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0175A60-5270-4127-9B16-D8F7221487A0}"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B36425A1-91AB-4246-8B70-7ABF5B8C469D}" type="datetimeFigureOut">
              <a:rPr lang="en-IN" smtClean="0"/>
              <a:t>15-04-2021</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0175A60-5270-4127-9B16-D8F7221487A0}"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36425A1-91AB-4246-8B70-7ABF5B8C469D}" type="datetimeFigureOut">
              <a:rPr lang="en-IN" smtClean="0"/>
              <a:t>15-04-2021</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0175A60-5270-4127-9B16-D8F7221487A0}"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36425A1-91AB-4246-8B70-7ABF5B8C469D}" type="datetimeFigureOut">
              <a:rPr lang="en-IN" smtClean="0"/>
              <a:t>15-04-2021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0175A60-5270-4127-9B16-D8F7221487A0}"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36425A1-91AB-4246-8B70-7ABF5B8C469D}" type="datetimeFigureOut">
              <a:rPr lang="en-IN" smtClean="0"/>
              <a:t>15-04-2021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0175A60-5270-4127-9B16-D8F7221487A0}"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B36425A1-91AB-4246-8B70-7ABF5B8C469D}" type="datetimeFigureOut">
              <a:rPr lang="en-IN" smtClean="0"/>
              <a:t>15-04-2021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0175A60-5270-4127-9B16-D8F7221487A0}"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B36425A1-91AB-4246-8B70-7ABF5B8C469D}" type="datetimeFigureOut">
              <a:rPr lang="en-IN" smtClean="0"/>
              <a:t>15-04-2021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0175A60-5270-4127-9B16-D8F7221487A0}"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6425A1-91AB-4246-8B70-7ABF5B8C469D}" type="datetimeFigureOut">
              <a:rPr lang="en-IN" smtClean="0"/>
              <a:t>15-04-2021</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175A60-5270-4127-9B16-D8F7221487A0}"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754145"/>
            <a:ext cx="9144000" cy="659876"/>
          </a:xfrm>
        </p:spPr>
        <p:txBody>
          <a:bodyPr>
            <a:normAutofit fontScale="90000"/>
          </a:bodyPr>
          <a:lstStyle/>
          <a:p>
            <a:r>
              <a:rPr lang="en-IN" sz="3600" b="1" dirty="0">
                <a:latin typeface="Times New Roman" panose="02020603050405020304" pitchFamily="18" charset="0"/>
                <a:cs typeface="Times New Roman" panose="02020603050405020304" pitchFamily="18" charset="0"/>
              </a:rPr>
              <a:t>CREDIT CARD FRAUD DETECTION USING MACHINE LEARNING </a:t>
            </a:r>
          </a:p>
        </p:txBody>
      </p:sp>
      <p:sp>
        <p:nvSpPr>
          <p:cNvPr id="4" name="Rectangle 3"/>
          <p:cNvSpPr/>
          <p:nvPr/>
        </p:nvSpPr>
        <p:spPr>
          <a:xfrm>
            <a:off x="4193762" y="1637206"/>
            <a:ext cx="3849131" cy="461665"/>
          </a:xfrm>
          <a:prstGeom prst="rect">
            <a:avLst/>
          </a:prstGeom>
        </p:spPr>
        <p:txBody>
          <a:bodyPr wrap="none">
            <a:spAutoFit/>
          </a:bodyPr>
          <a:lstStyle/>
          <a:p>
            <a:r>
              <a:rPr lang="en-IN" sz="2400" dirty="0">
                <a:latin typeface="Times New Roman" panose="02020603050405020304" pitchFamily="18" charset="0"/>
                <a:cs typeface="Times New Roman" panose="02020603050405020304" pitchFamily="18" charset="0"/>
              </a:rPr>
              <a:t>Domain : </a:t>
            </a:r>
            <a:r>
              <a:rPr lang="en-IN" sz="2400" b="1" dirty="0">
                <a:latin typeface="Times New Roman" panose="02020603050405020304" pitchFamily="18" charset="0"/>
                <a:cs typeface="Times New Roman" panose="02020603050405020304" pitchFamily="18" charset="0"/>
              </a:rPr>
              <a:t>Machine Learning</a:t>
            </a:r>
            <a:endParaRPr lang="en-IN" sz="2400" b="1" dirty="0"/>
          </a:p>
        </p:txBody>
      </p:sp>
      <p:sp>
        <p:nvSpPr>
          <p:cNvPr id="5" name="Subtitle 2"/>
          <p:cNvSpPr txBox="1"/>
          <p:nvPr/>
        </p:nvSpPr>
        <p:spPr>
          <a:xfrm>
            <a:off x="6359110" y="3009900"/>
            <a:ext cx="5782090" cy="2921000"/>
          </a:xfrm>
          <a:prstGeom prst="rect">
            <a:avLst/>
          </a:prstGeom>
        </p:spPr>
        <p:txBody>
          <a:bodyPr vert="horz" lIns="91440" tIns="45720" rIns="91440" bIns="45720" rtlCol="0">
            <a:noAutofit/>
          </a:body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kumimoji="0" lang="en-IN" altLang="en-US" sz="1400" b="0" i="0" u="none" strike="noStrike" kern="1200" cap="none" spc="0" normalizeH="0" baseline="0" noProof="0" dirty="0">
                <a:ln>
                  <a:noFill/>
                </a:ln>
                <a:solidFill>
                  <a:schemeClr val="tx1"/>
                </a:solidFill>
                <a:effectLst/>
                <a:uLnTx/>
                <a:uFillTx/>
                <a:latin typeface="Times New Roman" panose="02020603050405020304" pitchFamily="18" charset="0"/>
                <a:ea typeface="Verdana" panose="020B0604030504040204" pitchFamily="34" charset="0"/>
                <a:cs typeface="Times New Roman" panose="02020603050405020304" pitchFamily="18" charset="0"/>
              </a:rPr>
              <a:t>                                                                                                                                                                       </a:t>
            </a: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kumimoji="0" lang="en-IN" altLang="en-US" sz="1400" b="1" i="0" u="none" strike="noStrike" kern="1200" cap="none" spc="0" normalizeH="0" baseline="0" noProof="0" dirty="0">
                <a:ln>
                  <a:noFill/>
                </a:ln>
                <a:solidFill>
                  <a:schemeClr val="tx1"/>
                </a:solidFill>
                <a:effectLst/>
                <a:uLnTx/>
                <a:uFillTx/>
                <a:latin typeface="Times New Roman" panose="02020603050405020304" pitchFamily="18" charset="0"/>
                <a:ea typeface="Verdana" panose="020B0604030504040204" pitchFamily="34" charset="0"/>
                <a:cs typeface="Times New Roman" panose="02020603050405020304" pitchFamily="18" charset="0"/>
              </a:rPr>
              <a:t>Project Done by</a:t>
            </a:r>
            <a:r>
              <a:rPr kumimoji="0" lang="en-IN" altLang="en-US" sz="1400" b="0" i="0" u="none" strike="noStrike" kern="1200" cap="none" spc="0" normalizeH="0" baseline="0" noProof="0" dirty="0">
                <a:ln>
                  <a:noFill/>
                </a:ln>
                <a:solidFill>
                  <a:schemeClr val="tx1"/>
                </a:solidFill>
                <a:effectLst/>
                <a:uLnTx/>
                <a:uFillTx/>
                <a:latin typeface="Times New Roman" panose="02020603050405020304" pitchFamily="18" charset="0"/>
                <a:ea typeface="Verdana" panose="020B0604030504040204" pitchFamily="34" charset="0"/>
                <a:cs typeface="Times New Roman" panose="02020603050405020304" pitchFamily="18" charset="0"/>
              </a:rPr>
              <a:t>: </a:t>
            </a:r>
          </a:p>
          <a:p>
            <a:pPr>
              <a:lnSpc>
                <a:spcPct val="200000"/>
              </a:lnSpc>
            </a:pPr>
            <a:r>
              <a:rPr lang="en-IN" sz="1400" dirty="0">
                <a:latin typeface="Times New Roman" panose="02020603050405020304" pitchFamily="18" charset="0"/>
                <a:cs typeface="Times New Roman" panose="02020603050405020304" pitchFamily="18" charset="0"/>
              </a:rPr>
              <a:t>Irfana K V (Reg.No: 720917104020)</a:t>
            </a:r>
          </a:p>
          <a:p>
            <a:pPr>
              <a:lnSpc>
                <a:spcPct val="200000"/>
              </a:lnSpc>
            </a:pPr>
            <a:r>
              <a:rPr lang="en-IN" sz="1400" dirty="0">
                <a:latin typeface="Times New Roman" panose="02020603050405020304" pitchFamily="18" charset="0"/>
                <a:cs typeface="Times New Roman" panose="02020603050405020304" pitchFamily="18" charset="0"/>
              </a:rPr>
              <a:t>Naseela K T (Reg.No: 720917104036)</a:t>
            </a:r>
          </a:p>
          <a:p>
            <a:pPr>
              <a:lnSpc>
                <a:spcPct val="200000"/>
              </a:lnSpc>
            </a:pPr>
            <a:r>
              <a:rPr lang="en-IN" sz="1400" dirty="0">
                <a:latin typeface="Times New Roman" panose="02020603050405020304" pitchFamily="18" charset="0"/>
                <a:cs typeface="Times New Roman" panose="02020603050405020304" pitchFamily="18" charset="0"/>
              </a:rPr>
              <a:t>Akshay Sivaraj (Reg.No: 720917104701) </a:t>
            </a:r>
          </a:p>
          <a:p>
            <a:endParaRPr kumimoji="0" lang="en-IN" altLang="en-US" sz="1400" b="0" i="0" u="none" strike="noStrike" kern="1200" cap="none" spc="0" normalizeH="0" baseline="0" noProof="0" dirty="0">
              <a:ln>
                <a:noFill/>
              </a:ln>
              <a:solidFill>
                <a:schemeClr val="tx1"/>
              </a:solidFill>
              <a:effectLst/>
              <a:uLnTx/>
              <a:uFillTx/>
              <a:latin typeface="Times New Roman" panose="02020603050405020304" pitchFamily="18" charset="0"/>
              <a:ea typeface="Verdana" panose="020B0604030504040204" pitchFamily="34" charset="0"/>
              <a:cs typeface="Times New Roman" panose="02020603050405020304" pitchFamily="18" charset="0"/>
            </a:endParaRPr>
          </a:p>
          <a:p>
            <a:r>
              <a:rPr kumimoji="0" lang="en-IN" altLang="en-US" sz="1400" b="0" i="0" u="none" strike="noStrike" kern="1200" cap="none" spc="0" normalizeH="0" baseline="0" noProof="0" dirty="0">
                <a:ln>
                  <a:noFill/>
                </a:ln>
                <a:solidFill>
                  <a:schemeClr val="tx1"/>
                </a:solidFill>
                <a:effectLst/>
                <a:uLnTx/>
                <a:uFillTx/>
                <a:latin typeface="Times New Roman" panose="02020603050405020304" pitchFamily="18" charset="0"/>
                <a:ea typeface="Verdana" panose="020B0604030504040204" pitchFamily="34" charset="0"/>
                <a:cs typeface="Times New Roman" panose="02020603050405020304" pitchFamily="18" charset="0"/>
              </a:rPr>
              <a:t>Final Year, Department of Computer Science and Engineering,</a:t>
            </a: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kumimoji="0" lang="en-IN" altLang="en-US" sz="1400" b="0" i="0" u="none" strike="noStrike" kern="1200" cap="none" spc="0" normalizeH="0" baseline="0" noProof="0" dirty="0">
                <a:ln>
                  <a:noFill/>
                </a:ln>
                <a:solidFill>
                  <a:schemeClr val="tx1"/>
                </a:solidFill>
                <a:effectLst/>
                <a:uLnTx/>
                <a:uFillTx/>
                <a:latin typeface="Times New Roman" panose="02020603050405020304" pitchFamily="18" charset="0"/>
                <a:ea typeface="Verdana" panose="020B0604030504040204" pitchFamily="34" charset="0"/>
                <a:cs typeface="Times New Roman" panose="02020603050405020304" pitchFamily="18" charset="0"/>
              </a:rPr>
              <a:t>JCT College of Engineering and Technology, Pichanur, Coimbatore</a:t>
            </a: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kumimoji="0" lang="en-IN" altLang="en-US" sz="1400" b="0" i="0" u="none" strike="noStrike" kern="1200" cap="none" spc="0" normalizeH="0" baseline="0" noProof="0" dirty="0">
                <a:ln>
                  <a:noFill/>
                </a:ln>
                <a:solidFill>
                  <a:schemeClr val="tx1"/>
                </a:solidFill>
                <a:effectLst/>
                <a:uLnTx/>
                <a:uFillTx/>
                <a:latin typeface="Times New Roman" panose="02020603050405020304" pitchFamily="18" charset="0"/>
                <a:ea typeface="Verdana" panose="020B0604030504040204" pitchFamily="34" charset="0"/>
                <a:cs typeface="Times New Roman" panose="02020603050405020304" pitchFamily="18" charset="0"/>
              </a:rPr>
              <a:t>                                   </a:t>
            </a:r>
          </a:p>
        </p:txBody>
      </p:sp>
      <p:sp>
        <p:nvSpPr>
          <p:cNvPr id="6" name="Subtitle 2"/>
          <p:cNvSpPr txBox="1"/>
          <p:nvPr/>
        </p:nvSpPr>
        <p:spPr>
          <a:xfrm>
            <a:off x="631825" y="3475038"/>
            <a:ext cx="5214938" cy="2586037"/>
          </a:xfrm>
          <a:prstGeom prst="rect">
            <a:avLst/>
          </a:prstGeom>
        </p:spPr>
        <p:txBody>
          <a:bodyPr vert="horz" lIns="91440" tIns="45720" rIns="91440" bIns="45720" rtlCol="0">
            <a:norm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IN" altLang="en-US" sz="1400" b="0" i="0" u="none" strike="noStrike" kern="1200" cap="none" spc="0" normalizeH="0" baseline="0" noProof="0" dirty="0">
                <a:ln>
                  <a:noFill/>
                </a:ln>
                <a:solidFill>
                  <a:schemeClr val="tx1"/>
                </a:solidFill>
                <a:effectLst/>
                <a:uLnTx/>
                <a:uFillTx/>
                <a:latin typeface="Times New Roman" panose="02020603050405020304" pitchFamily="18" charset="0"/>
                <a:ea typeface="Verdana" panose="020B0604030504040204" pitchFamily="34" charset="0"/>
                <a:cs typeface="Times New Roman" panose="02020603050405020304" pitchFamily="18" charset="0"/>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IN" altLang="en-US" sz="1400" b="1" i="0" u="none" strike="noStrike" kern="1200" cap="none" spc="0" normalizeH="0" baseline="0" noProof="0" dirty="0">
                <a:ln>
                  <a:noFill/>
                </a:ln>
                <a:solidFill>
                  <a:schemeClr val="tx1"/>
                </a:solidFill>
                <a:effectLst/>
                <a:uLnTx/>
                <a:uFillTx/>
                <a:latin typeface="Times New Roman" panose="02020603050405020304" pitchFamily="18" charset="0"/>
                <a:ea typeface="Verdana" panose="020B0604030504040204" pitchFamily="34" charset="0"/>
                <a:cs typeface="Times New Roman" panose="02020603050405020304" pitchFamily="18" charset="0"/>
              </a:rPr>
              <a:t>Guided by</a:t>
            </a:r>
            <a:r>
              <a:rPr kumimoji="0" lang="en-IN" altLang="en-US" sz="1400" b="0" i="0" u="none" strike="noStrike" kern="1200" cap="none" spc="0" normalizeH="0" baseline="0" noProof="0" dirty="0">
                <a:ln>
                  <a:noFill/>
                </a:ln>
                <a:solidFill>
                  <a:schemeClr val="tx1"/>
                </a:solidFill>
                <a:effectLst/>
                <a:uLnTx/>
                <a:uFillTx/>
                <a:latin typeface="Times New Roman" panose="02020603050405020304" pitchFamily="18" charset="0"/>
                <a:ea typeface="Verdana" panose="020B0604030504040204" pitchFamily="34" charset="0"/>
                <a:cs typeface="Times New Roman" panose="02020603050405020304" pitchFamily="18" charset="0"/>
              </a:rPr>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IN" altLang="en-US" sz="1400" b="0" i="0" u="none" strike="noStrike" kern="1200" cap="none" spc="0" normalizeH="0" baseline="0" noProof="0" dirty="0">
                <a:ln>
                  <a:noFill/>
                </a:ln>
                <a:solidFill>
                  <a:schemeClr val="tx1"/>
                </a:solidFill>
                <a:effectLst/>
                <a:uLnTx/>
                <a:uFillTx/>
                <a:latin typeface="Times New Roman" panose="02020603050405020304" pitchFamily="18" charset="0"/>
                <a:ea typeface="Verdana" panose="020B0604030504040204" pitchFamily="34" charset="0"/>
                <a:cs typeface="Times New Roman" panose="02020603050405020304" pitchFamily="18" charset="0"/>
              </a:rPr>
              <a:t> Mr.G.Deeban Chakkarawarthi,M.E,MBA,</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IN" altLang="en-US" sz="1400" b="0" i="0" u="none" strike="noStrike" kern="1200" cap="none" spc="0" normalizeH="0" baseline="0" noProof="0" dirty="0">
                <a:ln>
                  <a:noFill/>
                </a:ln>
                <a:solidFill>
                  <a:schemeClr val="tx1"/>
                </a:solidFill>
                <a:effectLst/>
                <a:uLnTx/>
                <a:uFillTx/>
                <a:latin typeface="Times New Roman" panose="02020603050405020304" pitchFamily="18" charset="0"/>
                <a:ea typeface="Verdana" panose="020B0604030504040204" pitchFamily="34" charset="0"/>
                <a:cs typeface="Times New Roman" panose="02020603050405020304" pitchFamily="18" charset="0"/>
              </a:rPr>
              <a:t>Assistant Professor,</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IN" altLang="en-US" sz="1400" b="0" i="0" u="none" strike="noStrike" kern="1200" cap="none" spc="0" normalizeH="0" baseline="0" noProof="0" dirty="0">
                <a:ln>
                  <a:noFill/>
                </a:ln>
                <a:solidFill>
                  <a:schemeClr val="tx1"/>
                </a:solidFill>
                <a:effectLst/>
                <a:uLnTx/>
                <a:uFillTx/>
                <a:latin typeface="Times New Roman" panose="02020603050405020304" pitchFamily="18" charset="0"/>
                <a:ea typeface="Verdana" panose="020B0604030504040204" pitchFamily="34" charset="0"/>
                <a:cs typeface="Times New Roman" panose="02020603050405020304" pitchFamily="18" charset="0"/>
              </a:rPr>
              <a:t>Department of Computer Science and Engineering,</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IN" altLang="en-US" sz="1400" b="0" i="0" u="none" strike="noStrike" kern="1200" cap="none" spc="0" normalizeH="0" baseline="0" noProof="0" dirty="0">
                <a:ln>
                  <a:noFill/>
                </a:ln>
                <a:solidFill>
                  <a:schemeClr val="tx1"/>
                </a:solidFill>
                <a:effectLst/>
                <a:uLnTx/>
                <a:uFillTx/>
                <a:latin typeface="Times New Roman" panose="02020603050405020304" pitchFamily="18" charset="0"/>
                <a:ea typeface="Verdana" panose="020B0604030504040204" pitchFamily="34" charset="0"/>
                <a:cs typeface="Times New Roman" panose="02020603050405020304" pitchFamily="18" charset="0"/>
              </a:rPr>
              <a:t>JCT College of Engineering and Technology,</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en-IN" altLang="en-US" sz="1400" dirty="0">
                <a:latin typeface="Times New Roman" panose="02020603050405020304" pitchFamily="18" charset="0"/>
                <a:ea typeface="Verdana" panose="020B0604030504040204" pitchFamily="34" charset="0"/>
                <a:cs typeface="Times New Roman" panose="02020603050405020304" pitchFamily="18" charset="0"/>
              </a:rPr>
              <a:t>Pichanur,</a:t>
            </a:r>
            <a:r>
              <a:rPr kumimoji="0" lang="en-IN" altLang="en-US" sz="1400" b="0" i="0" u="none" strike="noStrike" kern="1200" cap="none" spc="0" normalizeH="0" baseline="0" noProof="0" dirty="0">
                <a:ln>
                  <a:noFill/>
                </a:ln>
                <a:solidFill>
                  <a:schemeClr val="tx1"/>
                </a:solidFill>
                <a:effectLst/>
                <a:uLnTx/>
                <a:uFillTx/>
                <a:latin typeface="Times New Roman" panose="02020603050405020304" pitchFamily="18" charset="0"/>
                <a:ea typeface="Verdana" panose="020B0604030504040204" pitchFamily="34" charset="0"/>
                <a:cs typeface="Times New Roman" panose="02020603050405020304" pitchFamily="18" charset="0"/>
              </a:rPr>
              <a:t>Coimbatore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IN" altLang="en-US" sz="1400" b="0" i="0" u="none" strike="noStrike" kern="1200" cap="none" spc="0" normalizeH="0" baseline="0" noProof="0" dirty="0">
                <a:ln>
                  <a:noFill/>
                </a:ln>
                <a:solidFill>
                  <a:schemeClr val="tx1"/>
                </a:solidFill>
                <a:effectLst/>
                <a:uLnTx/>
                <a:uFillTx/>
                <a:latin typeface="Times New Roman" panose="02020603050405020304" pitchFamily="18" charset="0"/>
                <a:ea typeface="Verdana" panose="020B0604030504040204" pitchFamily="34" charset="0"/>
                <a:cs typeface="Times New Roman" panose="02020603050405020304" pitchFamily="18" charset="0"/>
              </a:rPr>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301659"/>
            <a:ext cx="9144000" cy="537327"/>
          </a:xfrm>
        </p:spPr>
        <p:txBody>
          <a:bodyPr>
            <a:normAutofit/>
          </a:bodyPr>
          <a:lstStyle/>
          <a:p>
            <a:r>
              <a:rPr lang="en-IN" sz="3200" dirty="0">
                <a:latin typeface="Times New Roman" panose="02020603050405020304" pitchFamily="18" charset="0"/>
                <a:cs typeface="Times New Roman" panose="02020603050405020304" pitchFamily="18" charset="0"/>
              </a:rPr>
              <a:t>ABSTRACT</a:t>
            </a:r>
          </a:p>
        </p:txBody>
      </p:sp>
      <p:sp>
        <p:nvSpPr>
          <p:cNvPr id="3" name="Subtitle 2"/>
          <p:cNvSpPr>
            <a:spLocks noGrp="1"/>
          </p:cNvSpPr>
          <p:nvPr>
            <p:ph type="subTitle" idx="1"/>
          </p:nvPr>
        </p:nvSpPr>
        <p:spPr>
          <a:xfrm>
            <a:off x="669303" y="961535"/>
            <a:ext cx="10897386" cy="5429838"/>
          </a:xfrm>
        </p:spPr>
        <p:txBody>
          <a:bodyPr>
            <a:normAutofit fontScale="92500"/>
          </a:bodyPr>
          <a:lstStyle/>
          <a:p>
            <a:pPr marL="342900" indent="-342900" algn="just">
              <a:lnSpc>
                <a:spcPct val="120000"/>
              </a:lnSpc>
              <a:buFont typeface="Arial" panose="020B0604020202020204" pitchFamily="34" charset="0"/>
              <a:buChar char="•"/>
              <a:defRPr/>
            </a:pPr>
            <a:r>
              <a:rPr kumimoji="0" lang="en-US" b="1"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Credit card fraud </a:t>
            </a:r>
            <a:r>
              <a:rPr kumimoji="0" lang="en-US"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events take place frequently and then result in huge </a:t>
            </a:r>
            <a:r>
              <a:rPr kumimoji="0" lang="en-US" b="1"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financial losses</a:t>
            </a:r>
            <a:r>
              <a:rPr kumimoji="0" lang="en-US"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Criminals can use some technologies such as </a:t>
            </a:r>
            <a:r>
              <a:rPr kumimoji="0" lang="en-US" b="1"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Trojan</a:t>
            </a:r>
            <a:r>
              <a:rPr kumimoji="0" lang="en-US"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or </a:t>
            </a:r>
            <a:r>
              <a:rPr kumimoji="0" lang="en-US" b="1"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Phishing</a:t>
            </a:r>
            <a:r>
              <a:rPr kumimoji="0" lang="en-US"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to steal the information of other people’s credit cards. </a:t>
            </a:r>
          </a:p>
          <a:p>
            <a:pPr marL="342900" indent="-342900" algn="just">
              <a:lnSpc>
                <a:spcPct val="120000"/>
              </a:lnSpc>
              <a:buFont typeface="Arial" panose="020B0604020202020204" pitchFamily="34" charset="0"/>
              <a:buChar char="•"/>
              <a:defRPr/>
            </a:pPr>
            <a:r>
              <a:rPr kumimoji="0" lang="en-US"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Therefore, an effective fraud detection method is important since it can identify a fraud in time when a criminal uses a stolen card to consume. </a:t>
            </a:r>
          </a:p>
          <a:p>
            <a:pPr marL="342900" indent="-342900" algn="just">
              <a:lnSpc>
                <a:spcPct val="120000"/>
              </a:lnSpc>
              <a:buFont typeface="Arial" panose="020B0604020202020204" pitchFamily="34" charset="0"/>
              <a:buChar char="•"/>
              <a:defRPr/>
            </a:pPr>
            <a:r>
              <a:rPr kumimoji="0" lang="en-US"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One method is to make full use of the </a:t>
            </a:r>
            <a:r>
              <a:rPr kumimoji="0" lang="en-US" b="1"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historical transaction data </a:t>
            </a:r>
            <a:r>
              <a:rPr kumimoji="0" lang="en-US"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including normal transactions and fraud ones to obtain normal/fraud behavior features based on machine learning techniques, and then utilize these features to check if a transaction is fraud or not. </a:t>
            </a:r>
          </a:p>
          <a:p>
            <a:pPr marL="342900" indent="-342900" algn="just">
              <a:lnSpc>
                <a:spcPct val="120000"/>
              </a:lnSpc>
              <a:buFont typeface="Arial" panose="020B0604020202020204" pitchFamily="34" charset="0"/>
              <a:buChar char="•"/>
              <a:defRPr/>
            </a:pPr>
            <a:r>
              <a:rPr kumimoji="0" lang="en-US"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In this paper, Machine Learning algorithm is used to train the behavior features of </a:t>
            </a:r>
            <a:r>
              <a:rPr kumimoji="0" lang="en-US" b="1"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normal</a:t>
            </a:r>
            <a:r>
              <a:rPr kumimoji="0" lang="en-US"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and </a:t>
            </a:r>
            <a:r>
              <a:rPr kumimoji="0" lang="en-US" b="1"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abnormal</a:t>
            </a:r>
            <a:r>
              <a:rPr kumimoji="0" lang="en-US"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transactions. </a:t>
            </a:r>
          </a:p>
          <a:p>
            <a:pPr marL="342900" indent="-342900" algn="just">
              <a:lnSpc>
                <a:spcPct val="120000"/>
              </a:lnSpc>
              <a:buFont typeface="Arial" panose="020B0604020202020204" pitchFamily="34" charset="0"/>
              <a:buChar char="•"/>
              <a:defRPr/>
            </a:pPr>
            <a:r>
              <a:rPr kumimoji="0" lang="en-US"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We implement this using </a:t>
            </a:r>
            <a:r>
              <a:rPr kumimoji="0" lang="en-US" b="1"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Random forest </a:t>
            </a:r>
            <a:r>
              <a:rPr kumimoji="0" lang="en-US"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machine learning algorithm in OpenCV and analyze the performance on credit fraud detection.</a:t>
            </a:r>
            <a:endParaRPr kumimoji="0" lang="en-IN"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509048"/>
            <a:ext cx="9144000" cy="612742"/>
          </a:xfrm>
        </p:spPr>
        <p:txBody>
          <a:bodyPr>
            <a:normAutofit/>
          </a:bodyPr>
          <a:lstStyle/>
          <a:p>
            <a:r>
              <a:rPr lang="en-IN" sz="3200" dirty="0">
                <a:latin typeface="Times New Roman" panose="02020603050405020304" pitchFamily="18" charset="0"/>
                <a:cs typeface="Times New Roman" panose="02020603050405020304" pitchFamily="18" charset="0"/>
              </a:rPr>
              <a:t>INTRODUCTION</a:t>
            </a:r>
          </a:p>
        </p:txBody>
      </p:sp>
      <p:sp>
        <p:nvSpPr>
          <p:cNvPr id="3" name="Subtitle 2"/>
          <p:cNvSpPr>
            <a:spLocks noGrp="1"/>
          </p:cNvSpPr>
          <p:nvPr>
            <p:ph type="subTitle" idx="1"/>
          </p:nvPr>
        </p:nvSpPr>
        <p:spPr>
          <a:xfrm>
            <a:off x="707011" y="1244338"/>
            <a:ext cx="10887958" cy="5005634"/>
          </a:xfrm>
        </p:spPr>
        <p:txBody>
          <a:bodyPr/>
          <a:lstStyle/>
          <a:p>
            <a:pPr marL="342900" indent="-34290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t>
            </a:r>
            <a:r>
              <a:rPr lang="en-US" b="1" i="1" dirty="0">
                <a:latin typeface="Times New Roman" panose="02020603050405020304" pitchFamily="18" charset="0"/>
                <a:cs typeface="Times New Roman" panose="02020603050405020304" pitchFamily="18" charset="0"/>
              </a:rPr>
              <a:t>Fraud</a:t>
            </a:r>
            <a:r>
              <a:rPr lang="en-US" dirty="0">
                <a:latin typeface="Times New Roman" panose="02020603050405020304" pitchFamily="18" charset="0"/>
                <a:cs typeface="Times New Roman" panose="02020603050405020304" pitchFamily="18" charset="0"/>
              </a:rPr>
              <a:t>’ in credit card transactions is </a:t>
            </a:r>
            <a:r>
              <a:rPr lang="en-US" b="1" i="1" dirty="0">
                <a:latin typeface="Times New Roman" panose="02020603050405020304" pitchFamily="18" charset="0"/>
                <a:cs typeface="Times New Roman" panose="02020603050405020304" pitchFamily="18" charset="0"/>
              </a:rPr>
              <a:t>unauthorized</a:t>
            </a:r>
            <a:r>
              <a:rPr lang="en-US" dirty="0">
                <a:latin typeface="Times New Roman" panose="02020603050405020304" pitchFamily="18" charset="0"/>
                <a:cs typeface="Times New Roman" panose="02020603050405020304" pitchFamily="18" charset="0"/>
              </a:rPr>
              <a:t> and </a:t>
            </a:r>
            <a:r>
              <a:rPr lang="en-US" b="1" i="1" dirty="0">
                <a:latin typeface="Times New Roman" panose="02020603050405020304" pitchFamily="18" charset="0"/>
                <a:cs typeface="Times New Roman" panose="02020603050405020304" pitchFamily="18" charset="0"/>
              </a:rPr>
              <a:t>unwanted</a:t>
            </a:r>
            <a:r>
              <a:rPr lang="en-US" dirty="0">
                <a:latin typeface="Times New Roman" panose="02020603050405020304" pitchFamily="18" charset="0"/>
                <a:cs typeface="Times New Roman" panose="02020603050405020304" pitchFamily="18" charset="0"/>
              </a:rPr>
              <a:t> usage of an account by </a:t>
            </a:r>
            <a:r>
              <a:rPr lang="en-US" b="1" i="1" dirty="0">
                <a:latin typeface="Times New Roman" panose="02020603050405020304" pitchFamily="18" charset="0"/>
                <a:cs typeface="Times New Roman" panose="02020603050405020304" pitchFamily="18" charset="0"/>
              </a:rPr>
              <a:t>someone</a:t>
            </a:r>
            <a:r>
              <a:rPr lang="en-US" dirty="0">
                <a:latin typeface="Times New Roman" panose="02020603050405020304" pitchFamily="18" charset="0"/>
                <a:cs typeface="Times New Roman" panose="02020603050405020304" pitchFamily="18" charset="0"/>
              </a:rPr>
              <a:t> other than the owner of that account. </a:t>
            </a:r>
          </a:p>
          <a:p>
            <a:pPr marL="342900" indent="-34290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Necessary prevention measures can be taken to stop this abuse and the behaviour of such fraudulent practices can be studied to minimize it and protect against similar occurrences in the future. </a:t>
            </a:r>
          </a:p>
          <a:p>
            <a:pPr marL="342900" indent="-34290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This is a very relevant problem that demands the attention of communities such as </a:t>
            </a:r>
            <a:r>
              <a:rPr lang="en-US" b="1" i="1" dirty="0">
                <a:latin typeface="Times New Roman" panose="02020603050405020304" pitchFamily="18" charset="0"/>
                <a:cs typeface="Times New Roman" panose="02020603050405020304" pitchFamily="18" charset="0"/>
              </a:rPr>
              <a:t>machine learning </a:t>
            </a:r>
            <a:r>
              <a:rPr lang="en-US" dirty="0">
                <a:latin typeface="Times New Roman" panose="02020603050405020304" pitchFamily="18" charset="0"/>
                <a:cs typeface="Times New Roman" panose="02020603050405020304" pitchFamily="18" charset="0"/>
              </a:rPr>
              <a:t>and </a:t>
            </a:r>
            <a:r>
              <a:rPr lang="en-US" b="1" i="1" dirty="0">
                <a:latin typeface="Times New Roman" panose="02020603050405020304" pitchFamily="18" charset="0"/>
                <a:cs typeface="Times New Roman" panose="02020603050405020304" pitchFamily="18" charset="0"/>
              </a:rPr>
              <a:t>data science </a:t>
            </a:r>
            <a:r>
              <a:rPr lang="en-US" dirty="0">
                <a:latin typeface="Times New Roman" panose="02020603050405020304" pitchFamily="18" charset="0"/>
                <a:cs typeface="Times New Roman" panose="02020603050405020304" pitchFamily="18" charset="0"/>
              </a:rPr>
              <a:t>where the solution to this problem can be automated. </a:t>
            </a:r>
          </a:p>
          <a:p>
            <a:pPr marL="342900" indent="-34290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number of valid transactions far outnumber fraudulent ones. Also, the transaction patterns often change their statistical properties over the course of time.</a:t>
            </a:r>
          </a:p>
          <a:p>
            <a:pPr marL="342900" indent="-342900" algn="just">
              <a:buFont typeface="Arial" panose="020B0604020202020204" pitchFamily="34" charset="0"/>
              <a:buChar char="•"/>
            </a:pPr>
            <a:r>
              <a:rPr lang="en-US" b="1" i="1" dirty="0">
                <a:latin typeface="Times New Roman" panose="02020603050405020304" pitchFamily="18" charset="0"/>
                <a:cs typeface="Times New Roman" panose="02020603050405020304" pitchFamily="18" charset="0"/>
              </a:rPr>
              <a:t>Machine learning algorithms </a:t>
            </a:r>
            <a:r>
              <a:rPr lang="en-US" dirty="0">
                <a:latin typeface="Times New Roman" panose="02020603050405020304" pitchFamily="18" charset="0"/>
                <a:cs typeface="Times New Roman" panose="02020603050405020304" pitchFamily="18" charset="0"/>
              </a:rPr>
              <a:t>are employed to analyse all the </a:t>
            </a:r>
            <a:r>
              <a:rPr lang="en-US" b="1" i="1" dirty="0">
                <a:latin typeface="Times New Roman" panose="02020603050405020304" pitchFamily="18" charset="0"/>
                <a:cs typeface="Times New Roman" panose="02020603050405020304" pitchFamily="18" charset="0"/>
              </a:rPr>
              <a:t>authorized</a:t>
            </a:r>
            <a:r>
              <a:rPr lang="en-US" dirty="0">
                <a:latin typeface="Times New Roman" panose="02020603050405020304" pitchFamily="18" charset="0"/>
                <a:cs typeface="Times New Roman" panose="02020603050405020304" pitchFamily="18" charset="0"/>
              </a:rPr>
              <a:t> transactions and report the </a:t>
            </a:r>
            <a:r>
              <a:rPr lang="en-US" b="1" i="1" dirty="0">
                <a:latin typeface="Times New Roman" panose="02020603050405020304" pitchFamily="18" charset="0"/>
                <a:cs typeface="Times New Roman" panose="02020603050405020304" pitchFamily="18" charset="0"/>
              </a:rPr>
              <a:t>suspicious</a:t>
            </a:r>
            <a:r>
              <a:rPr lang="en-US" dirty="0">
                <a:latin typeface="Times New Roman" panose="02020603050405020304" pitchFamily="18" charset="0"/>
                <a:cs typeface="Times New Roman" panose="02020603050405020304" pitchFamily="18" charset="0"/>
              </a:rPr>
              <a:t> ones. </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443061"/>
            <a:ext cx="9144000" cy="688156"/>
          </a:xfrm>
        </p:spPr>
        <p:txBody>
          <a:bodyPr>
            <a:normAutofit/>
          </a:bodyPr>
          <a:lstStyle/>
          <a:p>
            <a:r>
              <a:rPr lang="en-IN" sz="3200" dirty="0">
                <a:latin typeface="Times New Roman" panose="02020603050405020304" pitchFamily="18" charset="0"/>
                <a:cs typeface="Times New Roman" panose="02020603050405020304" pitchFamily="18" charset="0"/>
              </a:rPr>
              <a:t>LITERATURE SURVEY</a:t>
            </a:r>
          </a:p>
        </p:txBody>
      </p:sp>
      <p:sp>
        <p:nvSpPr>
          <p:cNvPr id="3" name="Subtitle 2"/>
          <p:cNvSpPr>
            <a:spLocks noGrp="1"/>
          </p:cNvSpPr>
          <p:nvPr>
            <p:ph type="subTitle" idx="1"/>
          </p:nvPr>
        </p:nvSpPr>
        <p:spPr>
          <a:xfrm>
            <a:off x="772998" y="1310326"/>
            <a:ext cx="10595728" cy="4949072"/>
          </a:xfrm>
        </p:spPr>
        <p:txBody>
          <a:bodyPr/>
          <a:lstStyle/>
          <a:p>
            <a:pPr marL="342900" marR="0" lvl="0" indent="-342900" algn="just" defTabSz="914400" rtl="0" eaLnBrk="1" fontAlgn="auto" latinLnBrk="0" hangingPunct="1">
              <a:lnSpc>
                <a:spcPct val="90000"/>
              </a:lnSpc>
              <a:spcBef>
                <a:spcPts val="1000"/>
              </a:spcBef>
              <a:spcAft>
                <a:spcPts val="0"/>
              </a:spcAft>
              <a:buClrTx/>
              <a:buSzTx/>
              <a:buFont typeface="Wingdings" panose="05000000000000000000" pitchFamily="2" charset="2"/>
              <a:buChar char="Ø"/>
              <a:defRPr/>
            </a:pPr>
            <a:r>
              <a:rPr lang="en-US" sz="2200" dirty="0">
                <a:latin typeface="Times New Roman" panose="02020603050405020304" pitchFamily="18" charset="0"/>
                <a:cs typeface="Times New Roman" panose="02020603050405020304" pitchFamily="18" charset="0"/>
              </a:rPr>
              <a:t>A similar research domain was presented by </a:t>
            </a:r>
            <a:r>
              <a:rPr lang="en-IN" sz="2200" dirty="0">
                <a:latin typeface="Times New Roman" panose="02020603050405020304" pitchFamily="18" charset="0"/>
                <a:cs typeface="Times New Roman" panose="02020603050405020304" pitchFamily="18" charset="0"/>
              </a:rPr>
              <a:t>S P Maniraj, Aditya Saini, and Swarna Deep Sarkar </a:t>
            </a:r>
            <a:r>
              <a:rPr lang="en-IN" sz="2200" i="1" dirty="0">
                <a:latin typeface="Times New Roman" panose="02020603050405020304" pitchFamily="18" charset="0"/>
                <a:cs typeface="Times New Roman" panose="02020603050405020304" pitchFamily="18" charset="0"/>
              </a:rPr>
              <a:t>[ </a:t>
            </a:r>
            <a:r>
              <a:rPr kumimoji="0" lang="en-US" sz="2200" b="0" i="1"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International Journal of Engineering and Advanced Technology (IJEAT) ISSN: 2249-8958, Volume-8 Issue-5, June 2019</a:t>
            </a:r>
            <a:r>
              <a:rPr kumimoji="0" lang="en-US" sz="22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t>
            </a:r>
            <a:r>
              <a:rPr lang="en-IN" sz="2200" dirty="0">
                <a:latin typeface="Times New Roman" panose="02020603050405020304" pitchFamily="18" charset="0"/>
                <a:cs typeface="Times New Roman" panose="02020603050405020304" pitchFamily="18" charset="0"/>
              </a:rPr>
              <a:t> where they used Machine Learning and Data Science</a:t>
            </a:r>
            <a:r>
              <a:rPr lang="en-US" sz="2200" dirty="0">
                <a:latin typeface="Times New Roman" panose="02020603050405020304" pitchFamily="18" charset="0"/>
                <a:cs typeface="Times New Roman" panose="02020603050405020304" pitchFamily="18" charset="0"/>
              </a:rPr>
              <a:t>. This paper has explained in detail, how machine learning can be applied to get better results in fraud detection along with the algorithm, pseudocode, explanation its implementation and experimentation results. It end up creating a system that can, with enough time and data.</a:t>
            </a:r>
          </a:p>
          <a:p>
            <a:pPr marL="342900" marR="0" lvl="0" indent="-342900" algn="just" defTabSz="914400" rtl="0" eaLnBrk="1" fontAlgn="auto" latinLnBrk="0" hangingPunct="1">
              <a:lnSpc>
                <a:spcPct val="90000"/>
              </a:lnSpc>
              <a:spcBef>
                <a:spcPts val="1000"/>
              </a:spcBef>
              <a:spcAft>
                <a:spcPts val="0"/>
              </a:spcAft>
              <a:buClrTx/>
              <a:buSzTx/>
              <a:buFont typeface="Wingdings" panose="05000000000000000000" pitchFamily="2" charset="2"/>
              <a:buChar char="Ø"/>
              <a:defRPr/>
            </a:pPr>
            <a:r>
              <a:rPr lang="en-US" sz="2200" dirty="0">
                <a:latin typeface="Times New Roman" panose="02020603050405020304" pitchFamily="18" charset="0"/>
                <a:cs typeface="Times New Roman" panose="02020603050405020304" pitchFamily="18" charset="0"/>
              </a:rPr>
              <a:t>Another paper was done by </a:t>
            </a:r>
            <a:r>
              <a:rPr lang="en-IN" sz="2200" dirty="0">
                <a:latin typeface="Times New Roman" panose="02020603050405020304" pitchFamily="18" charset="0"/>
                <a:cs typeface="Times New Roman" panose="02020603050405020304" pitchFamily="18" charset="0"/>
              </a:rPr>
              <a:t>Sahayasakila.V, D. Kavya Monisha, Aishwarya, Sikhakolli VenkatavisalakshiseshsaiYasaswi on “</a:t>
            </a:r>
            <a:r>
              <a:rPr lang="en-US" sz="2200" dirty="0">
                <a:latin typeface="Times New Roman" panose="02020603050405020304" pitchFamily="18" charset="0"/>
                <a:cs typeface="Times New Roman" panose="02020603050405020304" pitchFamily="18" charset="0"/>
              </a:rPr>
              <a:t>Credit Card Fraud Detection System using Smote Technique and Whale Optimization Algorithm” [</a:t>
            </a:r>
            <a:r>
              <a:rPr lang="en-US" sz="2200" i="1" dirty="0">
                <a:latin typeface="Times New Roman" panose="02020603050405020304" pitchFamily="18" charset="0"/>
                <a:cs typeface="Times New Roman" panose="02020603050405020304" pitchFamily="18" charset="0"/>
              </a:rPr>
              <a:t>International Journal of Engineering and Advanced Technology (IJEAT) ISSN: 2249-8958, Volume-8 Issue-5, June 2019</a:t>
            </a:r>
            <a:r>
              <a:rPr lang="en-US" sz="2200" dirty="0">
                <a:latin typeface="Times New Roman" panose="02020603050405020304" pitchFamily="18" charset="0"/>
                <a:cs typeface="Times New Roman" panose="02020603050405020304" pitchFamily="18" charset="0"/>
              </a:rPr>
              <a:t>] their aims in indentifying the fraud transactions occurring during the transactions made by the card holder. The system also aims to improve the convergence speed and solves the data imbalance.</a:t>
            </a:r>
          </a:p>
          <a:p>
            <a:pPr marR="0" lvl="0" algn="just" defTabSz="914400" rtl="0" eaLnBrk="1" fontAlgn="auto" latinLnBrk="0" hangingPunct="1">
              <a:lnSpc>
                <a:spcPct val="90000"/>
              </a:lnSpc>
              <a:spcBef>
                <a:spcPts val="1000"/>
              </a:spcBef>
              <a:spcAft>
                <a:spcPts val="0"/>
              </a:spcAft>
              <a:buClrTx/>
              <a:buSzTx/>
              <a:defRPr/>
            </a:pPr>
            <a:endParaRPr lang="en-US" sz="2000" dirty="0"/>
          </a:p>
          <a:p>
            <a:pPr marL="342900" indent="-342900" algn="l">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763571" y="659876"/>
            <a:ext cx="10583244" cy="5787279"/>
          </a:xfrm>
        </p:spPr>
        <p:txBody>
          <a:bodyPr>
            <a:normAutofit/>
          </a:bodyPr>
          <a:lstStyle/>
          <a:p>
            <a:pPr marL="342900" indent="-342900" algn="just">
              <a:buFont typeface="Wingdings" panose="05000000000000000000" pitchFamily="2" charset="2"/>
              <a:buChar char="Ø"/>
            </a:pPr>
            <a:endParaRPr lang="en-US" altLang="en-IN" sz="22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altLang="en-IN" sz="2200" dirty="0">
                <a:latin typeface="Times New Roman" panose="02020603050405020304" pitchFamily="18" charset="0"/>
                <a:cs typeface="Times New Roman" panose="02020603050405020304" pitchFamily="18" charset="0"/>
              </a:rPr>
              <a:t>A research paper was presented by Lakshmi S ,V S SSelvani and Deepthi Kavila [</a:t>
            </a:r>
            <a:r>
              <a:rPr lang="en-US" sz="2200" i="1" dirty="0">
                <a:latin typeface="Times New Roman" panose="02020603050405020304" pitchFamily="18" charset="0"/>
                <a:cs typeface="Times New Roman" panose="02020603050405020304" pitchFamily="18" charset="0"/>
                <a:sym typeface="+mn-ea"/>
              </a:rPr>
              <a:t>International Journal of Applied Engineering Research ISSN 0973-4562 Volume 13, Number 24 (2018)] </a:t>
            </a:r>
            <a:r>
              <a:rPr lang="en-US" sz="2200" dirty="0">
                <a:latin typeface="Times New Roman" panose="02020603050405020304" pitchFamily="18" charset="0"/>
                <a:cs typeface="Times New Roman" panose="02020603050405020304" pitchFamily="18" charset="0"/>
                <a:sym typeface="+mn-ea"/>
              </a:rPr>
              <a:t>In this paper, Machine learning technique like Logistic </a:t>
            </a:r>
            <a:r>
              <a:rPr lang="en-US" sz="2200" dirty="0">
                <a:latin typeface="Times New Roman" panose="02020603050405020304" pitchFamily="18" charset="0"/>
                <a:cs typeface="Times New Roman" panose="02020603050405020304" pitchFamily="18" charset="0"/>
              </a:rPr>
              <a:t>regression, Decision Tree and Random forest were used to detect the fraud in </a:t>
            </a:r>
            <a:r>
              <a:rPr lang="en-US" altLang="en-IN" sz="2200" dirty="0">
                <a:latin typeface="Times New Roman" panose="02020603050405020304" pitchFamily="18" charset="0"/>
                <a:cs typeface="Times New Roman" panose="02020603050405020304" pitchFamily="18" charset="0"/>
              </a:rPr>
              <a:t>credit card system. Sensitivity, Specificity,accuracy and error rate are used to evaluate the performance for the proposed system.</a:t>
            </a:r>
          </a:p>
          <a:p>
            <a:pPr marL="342900" indent="-342900" algn="just">
              <a:lnSpc>
                <a:spcPct val="100000"/>
              </a:lnSpc>
              <a:buFont typeface="Wingdings" panose="05000000000000000000" charset="0"/>
              <a:buChar char="Ø"/>
            </a:pPr>
            <a:r>
              <a:rPr lang="en-US" altLang="en-IN" sz="2200" dirty="0">
                <a:latin typeface="Times New Roman" panose="02020603050405020304" pitchFamily="18" charset="0"/>
                <a:cs typeface="Times New Roman" panose="02020603050405020304" pitchFamily="18" charset="0"/>
              </a:rPr>
              <a:t>Another research paper was proposed by Mr.Manohar.s, Arvind Bedi, Shashank kumar and Shounak kr Singh[</a:t>
            </a:r>
            <a:r>
              <a:rPr lang="en-US" sz="2200" i="1" dirty="0">
                <a:latin typeface="Times New Roman" panose="02020603050405020304" pitchFamily="18" charset="0"/>
                <a:cs typeface="Times New Roman" panose="02020603050405020304" pitchFamily="18" charset="0"/>
                <a:sym typeface="+mn-ea"/>
              </a:rPr>
              <a:t>International Research Journal of Engineering and Technology (IRJET) Volume: 07 Issue: 04 | Apr 2020 </a:t>
            </a:r>
            <a:r>
              <a:rPr lang="en-US" sz="2200" dirty="0">
                <a:latin typeface="Times New Roman" panose="02020603050405020304" pitchFamily="18" charset="0"/>
                <a:cs typeface="Times New Roman" panose="02020603050405020304" pitchFamily="18" charset="0"/>
                <a:sym typeface="+mn-ea"/>
              </a:rPr>
              <a:t>] this paper introducing a </a:t>
            </a:r>
            <a:r>
              <a:rPr lang="en-US" sz="2200" dirty="0">
                <a:latin typeface="Times New Roman" panose="02020603050405020304" pitchFamily="18" charset="0"/>
                <a:cs typeface="Times New Roman" panose="02020603050405020304" pitchFamily="18" charset="0"/>
              </a:rPr>
              <a:t>fraud detection system for credit-cards by applying three  different algorithms  </a:t>
            </a:r>
            <a:r>
              <a:rPr lang="en-US" altLang="en-IN" sz="2200" dirty="0">
                <a:latin typeface="Times New Roman" panose="02020603050405020304" pitchFamily="18" charset="0"/>
                <a:cs typeface="Times New Roman" panose="02020603050405020304" pitchFamily="18" charset="0"/>
              </a:rPr>
              <a:t>and training our machine using these algorithms with the transaction records they have.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461913"/>
            <a:ext cx="9288544" cy="669303"/>
          </a:xfrm>
        </p:spPr>
        <p:txBody>
          <a:bodyPr>
            <a:normAutofit/>
          </a:bodyPr>
          <a:lstStyle/>
          <a:p>
            <a:r>
              <a:rPr lang="en-IN" sz="3200" dirty="0">
                <a:latin typeface="Times New Roman" panose="02020603050405020304" pitchFamily="18" charset="0"/>
                <a:cs typeface="Times New Roman" panose="02020603050405020304" pitchFamily="18" charset="0"/>
              </a:rPr>
              <a:t>EXISTING SYSTEM</a:t>
            </a:r>
          </a:p>
        </p:txBody>
      </p:sp>
      <p:sp>
        <p:nvSpPr>
          <p:cNvPr id="3" name="Subtitle 2"/>
          <p:cNvSpPr>
            <a:spLocks noGrp="1"/>
          </p:cNvSpPr>
          <p:nvPr>
            <p:ph type="subTitle" idx="1"/>
          </p:nvPr>
        </p:nvSpPr>
        <p:spPr>
          <a:xfrm>
            <a:off x="1036948" y="1442302"/>
            <a:ext cx="10218656" cy="4727542"/>
          </a:xfrm>
        </p:spPr>
        <p:txBody>
          <a:bodyPr/>
          <a:lstStyle/>
          <a:p>
            <a:pPr marL="342900" indent="-342900" algn="just">
              <a:lnSpc>
                <a:spcPct val="150000"/>
              </a:lnSpc>
              <a:buFont typeface="Courier New" panose="02070309020205020404" pitchFamily="49" charset="0"/>
              <a:buChar char="o"/>
            </a:pPr>
            <a:r>
              <a:rPr lang="en-US" b="0" i="0" dirty="0">
                <a:solidFill>
                  <a:srgbClr val="202124"/>
                </a:solidFill>
                <a:effectLst/>
                <a:latin typeface="Times New Roman" panose="02020603050405020304" pitchFamily="18" charset="0"/>
                <a:cs typeface="Times New Roman" panose="02020603050405020304" pitchFamily="18" charset="0"/>
              </a:rPr>
              <a:t>One of the earliest </a:t>
            </a:r>
            <a:r>
              <a:rPr lang="en-US" i="0" dirty="0">
                <a:solidFill>
                  <a:srgbClr val="202124"/>
                </a:solidFill>
                <a:effectLst/>
                <a:latin typeface="Times New Roman" panose="02020603050405020304" pitchFamily="18" charset="0"/>
                <a:cs typeface="Times New Roman" panose="02020603050405020304" pitchFamily="18" charset="0"/>
              </a:rPr>
              <a:t>system</a:t>
            </a:r>
            <a:r>
              <a:rPr lang="en-US" b="0" i="0" dirty="0">
                <a:solidFill>
                  <a:srgbClr val="202124"/>
                </a:solidFill>
                <a:effectLst/>
                <a:latin typeface="Times New Roman" panose="02020603050405020304" pitchFamily="18" charset="0"/>
                <a:cs typeface="Times New Roman" panose="02020603050405020304" pitchFamily="18" charset="0"/>
              </a:rPr>
              <a:t> is CCFD</a:t>
            </a:r>
            <a:r>
              <a:rPr lang="en-US" i="0" dirty="0">
                <a:solidFill>
                  <a:srgbClr val="202124"/>
                </a:solidFill>
                <a:effectLst/>
                <a:latin typeface="Times New Roman" panose="02020603050405020304" pitchFamily="18" charset="0"/>
                <a:cs typeface="Times New Roman" panose="02020603050405020304" pitchFamily="18" charset="0"/>
              </a:rPr>
              <a:t> system </a:t>
            </a:r>
            <a:r>
              <a:rPr lang="en-US" b="0" i="0" dirty="0">
                <a:solidFill>
                  <a:srgbClr val="202124"/>
                </a:solidFill>
                <a:effectLst/>
                <a:latin typeface="Times New Roman" panose="02020603050405020304" pitchFamily="18" charset="0"/>
                <a:cs typeface="Times New Roman" panose="02020603050405020304" pitchFamily="18" charset="0"/>
              </a:rPr>
              <a:t>using </a:t>
            </a:r>
            <a:r>
              <a:rPr lang="en-US" b="1" i="1" dirty="0">
                <a:solidFill>
                  <a:srgbClr val="202124"/>
                </a:solidFill>
                <a:effectLst/>
                <a:latin typeface="Times New Roman" panose="02020603050405020304" pitchFamily="18" charset="0"/>
                <a:cs typeface="Times New Roman" panose="02020603050405020304" pitchFamily="18" charset="0"/>
              </a:rPr>
              <a:t>Markov model</a:t>
            </a:r>
          </a:p>
          <a:p>
            <a:pPr marL="342900" indent="-342900" algn="just">
              <a:lnSpc>
                <a:spcPct val="150000"/>
              </a:lnSpc>
              <a:buFont typeface="Courier New" panose="02070309020205020404" pitchFamily="49" charset="0"/>
              <a:buChar char="o"/>
            </a:pPr>
            <a:r>
              <a:rPr lang="en-US" b="0" i="0" dirty="0">
                <a:solidFill>
                  <a:srgbClr val="202124"/>
                </a:solidFill>
                <a:effectLst/>
                <a:latin typeface="Times New Roman" panose="02020603050405020304" pitchFamily="18" charset="0"/>
                <a:cs typeface="Times New Roman" panose="02020603050405020304" pitchFamily="18" charset="0"/>
              </a:rPr>
              <a:t>Some other various </a:t>
            </a:r>
            <a:r>
              <a:rPr lang="en-US" i="0" dirty="0">
                <a:solidFill>
                  <a:srgbClr val="202124"/>
                </a:solidFill>
                <a:effectLst/>
                <a:latin typeface="Times New Roman" panose="02020603050405020304" pitchFamily="18" charset="0"/>
                <a:cs typeface="Times New Roman" panose="02020603050405020304" pitchFamily="18" charset="0"/>
              </a:rPr>
              <a:t>existing</a:t>
            </a:r>
            <a:r>
              <a:rPr lang="en-US" b="0" i="0" dirty="0">
                <a:solidFill>
                  <a:srgbClr val="202124"/>
                </a:solidFill>
                <a:effectLst/>
                <a:latin typeface="Times New Roman" panose="02020603050405020304" pitchFamily="18" charset="0"/>
                <a:cs typeface="Times New Roman" panose="02020603050405020304" pitchFamily="18" charset="0"/>
              </a:rPr>
              <a:t> algorithms used in the </a:t>
            </a:r>
            <a:r>
              <a:rPr lang="en-US" i="0" dirty="0">
                <a:solidFill>
                  <a:srgbClr val="202124"/>
                </a:solidFill>
                <a:effectLst/>
                <a:latin typeface="Times New Roman" panose="02020603050405020304" pitchFamily="18" charset="0"/>
                <a:cs typeface="Times New Roman" panose="02020603050405020304" pitchFamily="18" charset="0"/>
              </a:rPr>
              <a:t>credit</a:t>
            </a:r>
            <a:r>
              <a:rPr lang="en-US" b="0" i="0" dirty="0">
                <a:solidFill>
                  <a:srgbClr val="202124"/>
                </a:solidFill>
                <a:effectLst/>
                <a:latin typeface="Times New Roman" panose="02020603050405020304" pitchFamily="18" charset="0"/>
                <a:cs typeface="Times New Roman" panose="02020603050405020304" pitchFamily="18" charset="0"/>
              </a:rPr>
              <a:t> cards </a:t>
            </a:r>
            <a:r>
              <a:rPr lang="en-US" i="0" dirty="0">
                <a:solidFill>
                  <a:srgbClr val="202124"/>
                </a:solidFill>
                <a:effectLst/>
                <a:latin typeface="Times New Roman" panose="02020603050405020304" pitchFamily="18" charset="0"/>
                <a:cs typeface="Times New Roman" panose="02020603050405020304" pitchFamily="18" charset="0"/>
              </a:rPr>
              <a:t>fraud</a:t>
            </a:r>
            <a:r>
              <a:rPr lang="en-US" b="1" i="0" dirty="0">
                <a:solidFill>
                  <a:srgbClr val="202124"/>
                </a:solidFill>
                <a:effectLst/>
                <a:latin typeface="Times New Roman" panose="02020603050405020304" pitchFamily="18" charset="0"/>
                <a:cs typeface="Times New Roman" panose="02020603050405020304" pitchFamily="18" charset="0"/>
              </a:rPr>
              <a:t> </a:t>
            </a:r>
            <a:r>
              <a:rPr lang="en-US" i="0" dirty="0">
                <a:solidFill>
                  <a:srgbClr val="202124"/>
                </a:solidFill>
                <a:effectLst/>
                <a:latin typeface="Times New Roman" panose="02020603050405020304" pitchFamily="18" charset="0"/>
                <a:cs typeface="Times New Roman" panose="02020603050405020304" pitchFamily="18" charset="0"/>
              </a:rPr>
              <a:t>detection</a:t>
            </a:r>
            <a:r>
              <a:rPr lang="en-US" b="1" i="0" dirty="0">
                <a:solidFill>
                  <a:srgbClr val="202124"/>
                </a:solidFill>
                <a:effectLst/>
                <a:latin typeface="Times New Roman" panose="02020603050405020304" pitchFamily="18" charset="0"/>
                <a:cs typeface="Times New Roman" panose="02020603050405020304" pitchFamily="18" charset="0"/>
              </a:rPr>
              <a:t> </a:t>
            </a:r>
            <a:r>
              <a:rPr lang="en-US" i="0" dirty="0">
                <a:solidFill>
                  <a:srgbClr val="202124"/>
                </a:solidFill>
                <a:effectLst/>
                <a:latin typeface="Times New Roman" panose="02020603050405020304" pitchFamily="18" charset="0"/>
                <a:cs typeface="Times New Roman" panose="02020603050405020304" pitchFamily="18" charset="0"/>
              </a:rPr>
              <a:t>system</a:t>
            </a:r>
            <a:r>
              <a:rPr lang="en-US" b="0" i="0" dirty="0">
                <a:solidFill>
                  <a:srgbClr val="202124"/>
                </a:solidFill>
                <a:effectLst/>
                <a:latin typeface="Times New Roman" panose="02020603050405020304" pitchFamily="18" charset="0"/>
                <a:cs typeface="Times New Roman" panose="02020603050405020304" pitchFamily="18" charset="0"/>
              </a:rPr>
              <a:t> includes </a:t>
            </a:r>
            <a:r>
              <a:rPr lang="en-US" b="1" i="1" dirty="0">
                <a:solidFill>
                  <a:srgbClr val="202124"/>
                </a:solidFill>
                <a:effectLst/>
                <a:latin typeface="Times New Roman" panose="02020603050405020304" pitchFamily="18" charset="0"/>
                <a:cs typeface="Times New Roman" panose="02020603050405020304" pitchFamily="18" charset="0"/>
              </a:rPr>
              <a:t>Cost sensitive decision tree (CSDT), support vector machine (SVM)</a:t>
            </a:r>
          </a:p>
          <a:p>
            <a:pPr marL="342900" indent="-342900" algn="just">
              <a:lnSpc>
                <a:spcPct val="150000"/>
              </a:lnSpc>
              <a:buFont typeface="Courier New" panose="02070309020205020404" pitchFamily="49" charset="0"/>
              <a:buChar char="o"/>
            </a:pPr>
            <a:r>
              <a:rPr lang="en-US" i="0" dirty="0">
                <a:solidFill>
                  <a:srgbClr val="202124"/>
                </a:solidFill>
                <a:effectLst/>
                <a:latin typeface="Times New Roman" panose="02020603050405020304" pitchFamily="18" charset="0"/>
                <a:cs typeface="Times New Roman" panose="02020603050405020304" pitchFamily="18" charset="0"/>
              </a:rPr>
              <a:t>credit card fraud detection</a:t>
            </a:r>
            <a:r>
              <a:rPr lang="en-US" b="0" i="0" dirty="0">
                <a:solidFill>
                  <a:srgbClr val="202124"/>
                </a:solidFill>
                <a:effectLst/>
                <a:latin typeface="Times New Roman" panose="02020603050405020304" pitchFamily="18" charset="0"/>
                <a:cs typeface="Times New Roman" panose="02020603050405020304" pitchFamily="18" charset="0"/>
              </a:rPr>
              <a:t>(CCFD) is also proposed by using </a:t>
            </a:r>
            <a:r>
              <a:rPr lang="en-US" b="1" i="1" dirty="0">
                <a:solidFill>
                  <a:srgbClr val="202124"/>
                </a:solidFill>
                <a:effectLst/>
                <a:latin typeface="Times New Roman" panose="02020603050405020304" pitchFamily="18" charset="0"/>
                <a:cs typeface="Times New Roman" panose="02020603050405020304" pitchFamily="18" charset="0"/>
              </a:rPr>
              <a:t>Neural networks</a:t>
            </a:r>
            <a:r>
              <a:rPr lang="en-US" b="0" i="0" dirty="0">
                <a:solidFill>
                  <a:srgbClr val="202124"/>
                </a:solidFill>
                <a:effectLst/>
                <a:latin typeface="Times New Roman" panose="02020603050405020304" pitchFamily="18" charset="0"/>
                <a:cs typeface="Times New Roman" panose="02020603050405020304" pitchFamily="18" charset="0"/>
              </a:rPr>
              <a:t>.</a:t>
            </a:r>
          </a:p>
          <a:p>
            <a:pPr marL="342900" indent="-342900" algn="just">
              <a:lnSpc>
                <a:spcPct val="150000"/>
              </a:lnSpc>
              <a:buFont typeface="Courier New" panose="02070309020205020404" pitchFamily="49" charset="0"/>
              <a:buChar char="o"/>
            </a:pPr>
            <a:r>
              <a:rPr lang="en-US" b="1" i="1" dirty="0">
                <a:solidFill>
                  <a:srgbClr val="202124"/>
                </a:solidFill>
                <a:latin typeface="Times New Roman" panose="02020603050405020304" pitchFamily="18" charset="0"/>
                <a:cs typeface="Times New Roman" panose="02020603050405020304" pitchFamily="18" charset="0"/>
              </a:rPr>
              <a:t>SMOTE</a:t>
            </a:r>
            <a:r>
              <a:rPr lang="en-US" dirty="0">
                <a:solidFill>
                  <a:srgbClr val="202124"/>
                </a:solidFill>
                <a:latin typeface="Times New Roman" panose="02020603050405020304" pitchFamily="18" charset="0"/>
                <a:cs typeface="Times New Roman" panose="02020603050405020304" pitchFamily="18" charset="0"/>
              </a:rPr>
              <a:t> technique and </a:t>
            </a:r>
            <a:r>
              <a:rPr lang="en-US" b="1" i="1" dirty="0">
                <a:solidFill>
                  <a:srgbClr val="202124"/>
                </a:solidFill>
                <a:latin typeface="Times New Roman" panose="02020603050405020304" pitchFamily="18" charset="0"/>
                <a:cs typeface="Times New Roman" panose="02020603050405020304" pitchFamily="18" charset="0"/>
              </a:rPr>
              <a:t>Whale</a:t>
            </a:r>
            <a:r>
              <a:rPr lang="en-US" dirty="0">
                <a:solidFill>
                  <a:srgbClr val="202124"/>
                </a:solidFill>
                <a:latin typeface="Times New Roman" panose="02020603050405020304" pitchFamily="18" charset="0"/>
                <a:cs typeface="Times New Roman" panose="02020603050405020304" pitchFamily="18" charset="0"/>
              </a:rPr>
              <a:t> optimization algorithm.</a:t>
            </a:r>
            <a:endParaRPr lang="en-US" b="0" i="0" dirty="0">
              <a:solidFill>
                <a:srgbClr val="202124"/>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89814" y="772999"/>
            <a:ext cx="9982986" cy="612741"/>
          </a:xfrm>
        </p:spPr>
        <p:txBody>
          <a:bodyPr>
            <a:normAutofit/>
          </a:bodyPr>
          <a:lstStyle/>
          <a:p>
            <a:pPr algn="l"/>
            <a:r>
              <a:rPr lang="en-IN" sz="3200" dirty="0">
                <a:latin typeface="Times New Roman" panose="02020603050405020304" pitchFamily="18" charset="0"/>
                <a:cs typeface="Times New Roman" panose="02020603050405020304" pitchFamily="18" charset="0"/>
              </a:rPr>
              <a:t>Disadvantages:</a:t>
            </a:r>
          </a:p>
        </p:txBody>
      </p:sp>
      <p:sp>
        <p:nvSpPr>
          <p:cNvPr id="3" name="Subtitle 2"/>
          <p:cNvSpPr>
            <a:spLocks noGrp="1"/>
          </p:cNvSpPr>
          <p:nvPr>
            <p:ph type="subTitle" idx="1"/>
          </p:nvPr>
        </p:nvSpPr>
        <p:spPr>
          <a:xfrm>
            <a:off x="989814" y="1611984"/>
            <a:ext cx="9982986" cy="4774674"/>
          </a:xfrm>
        </p:spPr>
        <p:txBody>
          <a:bodyPr/>
          <a:lstStyle/>
          <a:p>
            <a:pPr marL="342900" indent="-342900" algn="l">
              <a:buFont typeface="Courier New" panose="02070309020205020404" pitchFamily="49" charset="0"/>
              <a:buChar char="o"/>
            </a:pPr>
            <a:r>
              <a:rPr lang="en-US" b="1" i="1" dirty="0">
                <a:solidFill>
                  <a:srgbClr val="202124"/>
                </a:solidFill>
                <a:latin typeface="Times New Roman" panose="02020603050405020304" pitchFamily="18" charset="0"/>
                <a:cs typeface="Times New Roman" panose="02020603050405020304" pitchFamily="18" charset="0"/>
              </a:rPr>
              <a:t>Markov models </a:t>
            </a:r>
            <a:r>
              <a:rPr lang="en-US" dirty="0">
                <a:solidFill>
                  <a:srgbClr val="202124"/>
                </a:solidFill>
                <a:latin typeface="Times New Roman" panose="02020603050405020304" pitchFamily="18" charset="0"/>
                <a:cs typeface="Times New Roman" panose="02020603050405020304" pitchFamily="18" charset="0"/>
              </a:rPr>
              <a:t>are generally </a:t>
            </a:r>
            <a:r>
              <a:rPr lang="en-US" b="1" i="1" dirty="0">
                <a:solidFill>
                  <a:srgbClr val="202124"/>
                </a:solidFill>
                <a:latin typeface="Times New Roman" panose="02020603050405020304" pitchFamily="18" charset="0"/>
                <a:cs typeface="Times New Roman" panose="02020603050405020304" pitchFamily="18" charset="0"/>
              </a:rPr>
              <a:t>inappropriate</a:t>
            </a:r>
            <a:r>
              <a:rPr lang="en-US" dirty="0">
                <a:solidFill>
                  <a:srgbClr val="202124"/>
                </a:solidFill>
                <a:latin typeface="Times New Roman" panose="02020603050405020304" pitchFamily="18" charset="0"/>
                <a:cs typeface="Times New Roman" panose="02020603050405020304" pitchFamily="18" charset="0"/>
              </a:rPr>
              <a:t> over sufficiently short time intervals.</a:t>
            </a:r>
          </a:p>
          <a:p>
            <a:pPr marL="342900" indent="-342900" algn="l">
              <a:buFont typeface="Courier New" panose="02070309020205020404" pitchFamily="49" charset="0"/>
              <a:buChar char="o"/>
            </a:pPr>
            <a:r>
              <a:rPr lang="en-US" b="1" i="1" dirty="0">
                <a:solidFill>
                  <a:srgbClr val="202124"/>
                </a:solidFill>
                <a:latin typeface="Times New Roman" panose="02020603050405020304" pitchFamily="18" charset="0"/>
                <a:cs typeface="Times New Roman" panose="02020603050405020304" pitchFamily="18" charset="0"/>
              </a:rPr>
              <a:t>CSDT</a:t>
            </a:r>
            <a:r>
              <a:rPr lang="en-US" dirty="0">
                <a:solidFill>
                  <a:srgbClr val="202124"/>
                </a:solidFill>
                <a:latin typeface="Times New Roman" panose="02020603050405020304" pitchFamily="18" charset="0"/>
                <a:cs typeface="Times New Roman" panose="02020603050405020304" pitchFamily="18" charset="0"/>
              </a:rPr>
              <a:t> are </a:t>
            </a:r>
            <a:r>
              <a:rPr lang="en-US" b="1" i="1" dirty="0">
                <a:solidFill>
                  <a:srgbClr val="202124"/>
                </a:solidFill>
                <a:latin typeface="Times New Roman" panose="02020603050405020304" pitchFamily="18" charset="0"/>
                <a:cs typeface="Times New Roman" panose="02020603050405020304" pitchFamily="18" charset="0"/>
              </a:rPr>
              <a:t>unstable</a:t>
            </a:r>
            <a:r>
              <a:rPr lang="en-US" dirty="0">
                <a:solidFill>
                  <a:srgbClr val="202124"/>
                </a:solidFill>
                <a:latin typeface="Times New Roman" panose="02020603050405020304" pitchFamily="18" charset="0"/>
                <a:cs typeface="Times New Roman" panose="02020603050405020304" pitchFamily="18" charset="0"/>
              </a:rPr>
              <a:t>, meaning that a small change in the data can lead to a large change in the structure of the optimal decision tree.</a:t>
            </a:r>
          </a:p>
          <a:p>
            <a:pPr marL="342900" indent="-342900" algn="l">
              <a:buFont typeface="Courier New" panose="02070309020205020404" pitchFamily="49" charset="0"/>
              <a:buChar char="o"/>
            </a:pPr>
            <a:r>
              <a:rPr lang="en-US" b="1" i="1" dirty="0">
                <a:solidFill>
                  <a:srgbClr val="202124"/>
                </a:solidFill>
                <a:latin typeface="Times New Roman" panose="02020603050405020304" pitchFamily="18" charset="0"/>
                <a:cs typeface="Times New Roman" panose="02020603050405020304" pitchFamily="18" charset="0"/>
              </a:rPr>
              <a:t>SVM</a:t>
            </a:r>
            <a:r>
              <a:rPr lang="en-US" dirty="0">
                <a:solidFill>
                  <a:srgbClr val="202124"/>
                </a:solidFill>
                <a:latin typeface="Times New Roman" panose="02020603050405020304" pitchFamily="18" charset="0"/>
                <a:cs typeface="Times New Roman" panose="02020603050405020304" pitchFamily="18" charset="0"/>
              </a:rPr>
              <a:t> algorithm is not suitable for large data sets. They do not perform very </a:t>
            </a:r>
          </a:p>
          <a:p>
            <a:pPr marL="342900" indent="-342900" algn="l">
              <a:buFont typeface="Courier New" panose="02070309020205020404" pitchFamily="49" charset="0"/>
              <a:buChar char="o"/>
            </a:pPr>
            <a:r>
              <a:rPr lang="en-US" dirty="0">
                <a:solidFill>
                  <a:srgbClr val="202124"/>
                </a:solidFill>
                <a:latin typeface="Times New Roman" panose="02020603050405020304" pitchFamily="18" charset="0"/>
                <a:cs typeface="Times New Roman" panose="02020603050405020304" pitchFamily="18" charset="0"/>
              </a:rPr>
              <a:t>     well when the data set has more noise i.e., target classes are </a:t>
            </a:r>
            <a:r>
              <a:rPr lang="en-US" b="1" i="1" dirty="0">
                <a:solidFill>
                  <a:srgbClr val="202124"/>
                </a:solidFill>
                <a:latin typeface="Times New Roman" panose="02020603050405020304" pitchFamily="18" charset="0"/>
                <a:cs typeface="Times New Roman" panose="02020603050405020304" pitchFamily="18" charset="0"/>
              </a:rPr>
              <a:t>overlapping</a:t>
            </a:r>
            <a:r>
              <a:rPr lang="en-US" dirty="0">
                <a:solidFill>
                  <a:srgbClr val="202124"/>
                </a:solidFill>
                <a:latin typeface="Times New Roman" panose="02020603050405020304" pitchFamily="18" charset="0"/>
                <a:cs typeface="Times New Roman" panose="02020603050405020304" pitchFamily="18" charset="0"/>
              </a:rPr>
              <a:t>.</a:t>
            </a:r>
          </a:p>
          <a:p>
            <a:pPr marL="342900" indent="-342900" algn="l">
              <a:buFont typeface="Courier New" panose="02070309020205020404" pitchFamily="49" charset="0"/>
              <a:buChar char="o"/>
            </a:pPr>
            <a:r>
              <a:rPr lang="en-US" b="1" i="1" dirty="0">
                <a:solidFill>
                  <a:srgbClr val="202124"/>
                </a:solidFill>
                <a:latin typeface="Times New Roman" panose="02020603050405020304" pitchFamily="18" charset="0"/>
                <a:cs typeface="Times New Roman" panose="02020603050405020304" pitchFamily="18" charset="0"/>
              </a:rPr>
              <a:t>Neural Networks </a:t>
            </a:r>
            <a:r>
              <a:rPr lang="en-US" dirty="0">
                <a:solidFill>
                  <a:srgbClr val="202124"/>
                </a:solidFill>
                <a:latin typeface="Times New Roman" panose="02020603050405020304" pitchFamily="18" charset="0"/>
                <a:cs typeface="Times New Roman" panose="02020603050405020304" pitchFamily="18" charset="0"/>
              </a:rPr>
              <a:t>are hardware </a:t>
            </a:r>
            <a:r>
              <a:rPr lang="en-US" b="1" i="1" dirty="0">
                <a:solidFill>
                  <a:srgbClr val="202124"/>
                </a:solidFill>
                <a:latin typeface="Times New Roman" panose="02020603050405020304" pitchFamily="18" charset="0"/>
                <a:cs typeface="Times New Roman" panose="02020603050405020304" pitchFamily="18" charset="0"/>
              </a:rPr>
              <a:t>dependent</a:t>
            </a:r>
            <a:r>
              <a:rPr lang="en-US" dirty="0">
                <a:solidFill>
                  <a:srgbClr val="202124"/>
                </a:solidFill>
                <a:latin typeface="Times New Roman" panose="02020603050405020304" pitchFamily="18" charset="0"/>
                <a:cs typeface="Times New Roman" panose="02020603050405020304" pitchFamily="18" charset="0"/>
              </a:rPr>
              <a:t> and there is no specific rule for determining the structure of artificial neural networks.</a:t>
            </a:r>
          </a:p>
          <a:p>
            <a:pPr marL="342900" indent="-342900" algn="l">
              <a:buFont typeface="Courier New" panose="02070309020205020404" pitchFamily="49" charset="0"/>
              <a:buChar char="o"/>
            </a:pPr>
            <a:r>
              <a:rPr lang="en-US" b="1" i="1" dirty="0">
                <a:solidFill>
                  <a:srgbClr val="202124"/>
                </a:solidFill>
                <a:latin typeface="Times New Roman" panose="02020603050405020304" pitchFamily="18" charset="0"/>
                <a:cs typeface="Times New Roman" panose="02020603050405020304" pitchFamily="18" charset="0"/>
              </a:rPr>
              <a:t>SMOTE</a:t>
            </a:r>
            <a:r>
              <a:rPr lang="en-US" dirty="0">
                <a:solidFill>
                  <a:srgbClr val="202124"/>
                </a:solidFill>
                <a:latin typeface="Times New Roman" panose="02020603050405020304" pitchFamily="18" charset="0"/>
                <a:cs typeface="Times New Roman" panose="02020603050405020304" pitchFamily="18" charset="0"/>
              </a:rPr>
              <a:t> is </a:t>
            </a:r>
            <a:r>
              <a:rPr lang="en-US" b="1" i="1" dirty="0">
                <a:solidFill>
                  <a:srgbClr val="202124"/>
                </a:solidFill>
                <a:latin typeface="Times New Roman" panose="02020603050405020304" pitchFamily="18" charset="0"/>
                <a:cs typeface="Times New Roman" panose="02020603050405020304" pitchFamily="18" charset="0"/>
              </a:rPr>
              <a:t>not</a:t>
            </a:r>
            <a:r>
              <a:rPr lang="en-US" dirty="0">
                <a:solidFill>
                  <a:srgbClr val="202124"/>
                </a:solidFill>
                <a:latin typeface="Times New Roman" panose="02020603050405020304" pitchFamily="18" charset="0"/>
                <a:cs typeface="Times New Roman" panose="02020603050405020304" pitchFamily="18" charset="0"/>
              </a:rPr>
              <a:t> very </a:t>
            </a:r>
            <a:r>
              <a:rPr lang="en-US" b="1" i="1" dirty="0">
                <a:solidFill>
                  <a:srgbClr val="202124"/>
                </a:solidFill>
                <a:latin typeface="Times New Roman" panose="02020603050405020304" pitchFamily="18" charset="0"/>
                <a:cs typeface="Times New Roman" panose="02020603050405020304" pitchFamily="18" charset="0"/>
              </a:rPr>
              <a:t>practical</a:t>
            </a:r>
            <a:r>
              <a:rPr lang="en-US" dirty="0">
                <a:solidFill>
                  <a:srgbClr val="202124"/>
                </a:solidFill>
                <a:latin typeface="Times New Roman" panose="02020603050405020304" pitchFamily="18" charset="0"/>
                <a:cs typeface="Times New Roman" panose="02020603050405020304" pitchFamily="18" charset="0"/>
              </a:rPr>
              <a:t> for high dimensional data.</a:t>
            </a:r>
          </a:p>
          <a:p>
            <a:pPr algn="l"/>
            <a:endParaRPr lang="en-US" dirty="0">
              <a:solidFill>
                <a:srgbClr val="202124"/>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622169"/>
            <a:ext cx="9144000" cy="546755"/>
          </a:xfrm>
        </p:spPr>
        <p:txBody>
          <a:bodyPr>
            <a:noAutofit/>
          </a:bodyPr>
          <a:lstStyle/>
          <a:p>
            <a:r>
              <a:rPr lang="en-IN" sz="3200" dirty="0">
                <a:latin typeface="Times New Roman" panose="02020603050405020304" pitchFamily="18" charset="0"/>
                <a:cs typeface="Times New Roman" panose="02020603050405020304" pitchFamily="18" charset="0"/>
              </a:rPr>
              <a:t>PROPOSED SYSTEM</a:t>
            </a:r>
          </a:p>
        </p:txBody>
      </p:sp>
      <p:sp>
        <p:nvSpPr>
          <p:cNvPr id="3" name="Subtitle 2"/>
          <p:cNvSpPr>
            <a:spLocks noGrp="1"/>
          </p:cNvSpPr>
          <p:nvPr>
            <p:ph type="subTitle" idx="1"/>
          </p:nvPr>
        </p:nvSpPr>
        <p:spPr>
          <a:xfrm>
            <a:off x="791852" y="1291472"/>
            <a:ext cx="10840824" cy="4944359"/>
          </a:xfrm>
        </p:spPr>
        <p:txBody>
          <a:bodyPr>
            <a:normAutofit lnSpcReduction="10000"/>
          </a:bodyPr>
          <a:lstStyle/>
          <a:p>
            <a:pPr marL="342900" indent="-342900" algn="l">
              <a:lnSpc>
                <a:spcPct val="110000"/>
              </a:lnSpc>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There are </a:t>
            </a:r>
            <a:r>
              <a:rPr lang="en-US" b="1" i="1" dirty="0">
                <a:latin typeface="Times New Roman" panose="02020603050405020304" pitchFamily="18" charset="0"/>
                <a:cs typeface="Times New Roman" panose="02020603050405020304" pitchFamily="18" charset="0"/>
              </a:rPr>
              <a:t>two</a:t>
            </a:r>
            <a:r>
              <a:rPr lang="en-US" dirty="0">
                <a:latin typeface="Times New Roman" panose="02020603050405020304" pitchFamily="18" charset="0"/>
                <a:cs typeface="Times New Roman" panose="02020603050405020304" pitchFamily="18" charset="0"/>
              </a:rPr>
              <a:t> kinds of methods for fraud detection, </a:t>
            </a:r>
            <a:r>
              <a:rPr lang="en-US" b="1" i="1" dirty="0">
                <a:latin typeface="Times New Roman" panose="02020603050405020304" pitchFamily="18" charset="0"/>
                <a:cs typeface="Times New Roman" panose="02020603050405020304" pitchFamily="18" charset="0"/>
              </a:rPr>
              <a:t>misuse</a:t>
            </a:r>
            <a:r>
              <a:rPr lang="en-US" dirty="0">
                <a:latin typeface="Times New Roman" panose="02020603050405020304" pitchFamily="18" charset="0"/>
                <a:cs typeface="Times New Roman" panose="02020603050405020304" pitchFamily="18" charset="0"/>
              </a:rPr>
              <a:t> detection and </a:t>
            </a:r>
            <a:r>
              <a:rPr lang="en-US" b="1" i="1" dirty="0">
                <a:latin typeface="Times New Roman" panose="02020603050405020304" pitchFamily="18" charset="0"/>
                <a:cs typeface="Times New Roman" panose="02020603050405020304" pitchFamily="18" charset="0"/>
              </a:rPr>
              <a:t>anomaly</a:t>
            </a:r>
            <a:r>
              <a:rPr lang="en-US" dirty="0">
                <a:latin typeface="Times New Roman" panose="02020603050405020304" pitchFamily="18" charset="0"/>
                <a:cs typeface="Times New Roman" panose="02020603050405020304" pitchFamily="18" charset="0"/>
              </a:rPr>
              <a:t> detection. This paper is about misuse method.</a:t>
            </a:r>
            <a:endParaRPr lang="en-IN" dirty="0">
              <a:latin typeface="Times New Roman" panose="02020603050405020304" pitchFamily="18" charset="0"/>
              <a:cs typeface="Times New Roman" panose="02020603050405020304" pitchFamily="18" charset="0"/>
            </a:endParaRPr>
          </a:p>
          <a:p>
            <a:pPr marL="342900" indent="-342900" algn="l">
              <a:lnSpc>
                <a:spcPct val="110000"/>
              </a:lnSpc>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We use </a:t>
            </a:r>
            <a:r>
              <a:rPr lang="en-US" b="1" i="1" dirty="0">
                <a:latin typeface="Times New Roman" panose="02020603050405020304" pitchFamily="18" charset="0"/>
                <a:cs typeface="Times New Roman" panose="02020603050405020304" pitchFamily="18" charset="0"/>
              </a:rPr>
              <a:t>Random forest </a:t>
            </a:r>
            <a:r>
              <a:rPr lang="en-US" dirty="0">
                <a:latin typeface="Times New Roman" panose="02020603050405020304" pitchFamily="18" charset="0"/>
                <a:cs typeface="Times New Roman" panose="02020603050405020304" pitchFamily="18" charset="0"/>
              </a:rPr>
              <a:t>to train the normal and fraud behavior features.</a:t>
            </a:r>
          </a:p>
          <a:p>
            <a:pPr marL="342900" indent="-342900" algn="l">
              <a:lnSpc>
                <a:spcPct val="110000"/>
              </a:lnSpc>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The random forest algorithm for fraud detection and prevention has two cardinal factors that make it good at predicting things</a:t>
            </a:r>
            <a:r>
              <a:rPr lang="en-US" dirty="0"/>
              <a:t>.</a:t>
            </a:r>
          </a:p>
          <a:p>
            <a:pPr marL="914400" lvl="1" indent="-457200" algn="l">
              <a:lnSpc>
                <a:spcPct val="110000"/>
              </a:lnSpc>
              <a:buFont typeface="+mj-lt"/>
              <a:buAutoNum type="arabicPeriod"/>
            </a:pPr>
            <a:r>
              <a:rPr lang="en-US" dirty="0">
                <a:latin typeface="Times New Roman" panose="02020603050405020304" pitchFamily="18" charset="0"/>
                <a:cs typeface="Times New Roman" panose="02020603050405020304" pitchFamily="18" charset="0"/>
              </a:rPr>
              <a:t>Randomness</a:t>
            </a:r>
          </a:p>
          <a:p>
            <a:pPr marL="914400" lvl="1" indent="-457200" algn="l">
              <a:lnSpc>
                <a:spcPct val="110000"/>
              </a:lnSpc>
              <a:buFont typeface="+mj-lt"/>
              <a:buAutoNum type="arabicPeriod"/>
            </a:pPr>
            <a:r>
              <a:rPr lang="en-US" dirty="0">
                <a:latin typeface="Times New Roman" panose="02020603050405020304" pitchFamily="18" charset="0"/>
                <a:cs typeface="Times New Roman" panose="02020603050405020304" pitchFamily="18" charset="0"/>
              </a:rPr>
              <a:t>Diversity</a:t>
            </a:r>
          </a:p>
          <a:p>
            <a:pPr marL="342900" indent="-342900" algn="l">
              <a:lnSpc>
                <a:spcPct val="110000"/>
              </a:lnSpc>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The main objective of Random forest algorithm to </a:t>
            </a:r>
            <a:r>
              <a:rPr lang="en-US" b="1" i="1" dirty="0">
                <a:latin typeface="Times New Roman" panose="02020603050405020304" pitchFamily="18" charset="0"/>
                <a:cs typeface="Times New Roman" panose="02020603050405020304" pitchFamily="18" charset="0"/>
              </a:rPr>
              <a:t>classify</a:t>
            </a:r>
            <a:r>
              <a:rPr lang="en-US" dirty="0">
                <a:latin typeface="Times New Roman" panose="02020603050405020304" pitchFamily="18" charset="0"/>
                <a:cs typeface="Times New Roman" panose="02020603050405020304" pitchFamily="18" charset="0"/>
              </a:rPr>
              <a:t> the collected data as normal and abnormal.</a:t>
            </a:r>
          </a:p>
          <a:p>
            <a:pPr marL="342900" indent="-342900" algn="l">
              <a:lnSpc>
                <a:spcPct val="110000"/>
              </a:lnSpc>
              <a:buFont typeface="Wingdings" panose="05000000000000000000" pitchFamily="2" charset="2"/>
              <a:buChar char="§"/>
            </a:pPr>
            <a:r>
              <a:rPr lang="en-US" b="1" i="1" dirty="0">
                <a:latin typeface="Times New Roman" panose="02020603050405020304" pitchFamily="18" charset="0"/>
                <a:cs typeface="Times New Roman" panose="02020603050405020304" pitchFamily="18" charset="0"/>
              </a:rPr>
              <a:t>Machine learning algorithms </a:t>
            </a:r>
            <a:r>
              <a:rPr lang="en-US" dirty="0">
                <a:latin typeface="Times New Roman" panose="02020603050405020304" pitchFamily="18" charset="0"/>
                <a:cs typeface="Times New Roman" panose="02020603050405020304" pitchFamily="18" charset="0"/>
              </a:rPr>
              <a:t>are employed to analyze all the authorized transactions and report the suspicious ones.</a:t>
            </a:r>
          </a:p>
          <a:p>
            <a:pPr algn="l">
              <a:lnSpc>
                <a:spcPct val="200000"/>
              </a:lnSpc>
            </a:pPr>
            <a:endParaRPr lang="en-IN" dirty="0">
              <a:latin typeface="Times New Roman" panose="02020603050405020304" pitchFamily="18" charset="0"/>
              <a:cs typeface="Times New Roman" panose="02020603050405020304" pitchFamily="18" charset="0"/>
            </a:endParaRPr>
          </a:p>
          <a:p>
            <a:pPr algn="l">
              <a:lnSpc>
                <a:spcPct val="200000"/>
              </a:lnSpc>
            </a:pPr>
            <a:endParaRPr lang="en-IN" dirty="0">
              <a:latin typeface="Times New Roman" panose="02020603050405020304" pitchFamily="18" charset="0"/>
              <a:cs typeface="Times New Roman" panose="02020603050405020304" pitchFamily="18" charset="0"/>
            </a:endParaRPr>
          </a:p>
          <a:p>
            <a:pPr marL="342900" indent="-342900" algn="l">
              <a:lnSpc>
                <a:spcPct val="200000"/>
              </a:lnSpc>
              <a:buFont typeface="Courier New" panose="02070309020205020404" pitchFamily="49" charset="0"/>
              <a:buChar char="o"/>
            </a:pP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659877"/>
            <a:ext cx="9144000" cy="622168"/>
          </a:xfrm>
        </p:spPr>
        <p:txBody>
          <a:bodyPr>
            <a:normAutofit/>
          </a:bodyPr>
          <a:lstStyle/>
          <a:p>
            <a:r>
              <a:rPr lang="en-IN" sz="3200" dirty="0">
                <a:latin typeface="Times New Roman" panose="02020603050405020304" pitchFamily="18" charset="0"/>
                <a:cs typeface="Times New Roman" panose="02020603050405020304" pitchFamily="18" charset="0"/>
              </a:rPr>
              <a:t>MODULES</a:t>
            </a:r>
          </a:p>
        </p:txBody>
      </p:sp>
      <p:sp>
        <p:nvSpPr>
          <p:cNvPr id="3" name="Subtitle 2"/>
          <p:cNvSpPr>
            <a:spLocks noGrp="1"/>
          </p:cNvSpPr>
          <p:nvPr>
            <p:ph type="subTitle" idx="1"/>
          </p:nvPr>
        </p:nvSpPr>
        <p:spPr>
          <a:xfrm>
            <a:off x="1524000" y="1772239"/>
            <a:ext cx="9144000" cy="4147794"/>
          </a:xfrm>
        </p:spPr>
        <p:txBody>
          <a:bodyPr/>
          <a:lstStyle/>
          <a:p>
            <a:pPr marL="457200" indent="-457200" algn="l">
              <a:buFont typeface="+mj-lt"/>
              <a:buAutoNum type="arabicPeriod"/>
            </a:pPr>
            <a:r>
              <a:rPr lang="en-IN" dirty="0">
                <a:latin typeface="Times New Roman" panose="02020603050405020304" pitchFamily="18" charset="0"/>
                <a:cs typeface="Times New Roman" panose="02020603050405020304" pitchFamily="18" charset="0"/>
              </a:rPr>
              <a:t>Data collection and analysis</a:t>
            </a:r>
          </a:p>
          <a:p>
            <a:pPr algn="l">
              <a:buFont typeface="Arial" panose="020B0604020202020204" pitchFamily="34" charset="0"/>
            </a:pPr>
            <a:r>
              <a:rPr lang="en-US" altLang="en-IN" dirty="0">
                <a:latin typeface="Times New Roman" panose="02020603050405020304" pitchFamily="18" charset="0"/>
                <a:cs typeface="Times New Roman" panose="02020603050405020304" pitchFamily="18" charset="0"/>
              </a:rPr>
              <a:t>2.   </a:t>
            </a:r>
            <a:r>
              <a:rPr lang="en-IN" dirty="0">
                <a:latin typeface="Times New Roman" panose="02020603050405020304" pitchFamily="18" charset="0"/>
                <a:cs typeface="Times New Roman" panose="02020603050405020304" pitchFamily="18" charset="0"/>
              </a:rPr>
              <a:t>Data Splitting</a:t>
            </a:r>
          </a:p>
          <a:p>
            <a:pPr algn="l">
              <a:buFont typeface="Arial" panose="020B0604020202020204" pitchFamily="34" charset="0"/>
            </a:pPr>
            <a:r>
              <a:rPr lang="en-US" altLang="en-IN" dirty="0">
                <a:latin typeface="Times New Roman" panose="02020603050405020304" pitchFamily="18" charset="0"/>
                <a:cs typeface="Times New Roman" panose="02020603050405020304" pitchFamily="18" charset="0"/>
              </a:rPr>
              <a:t>3.   </a:t>
            </a:r>
            <a:r>
              <a:rPr lang="en-IN" dirty="0">
                <a:latin typeface="Times New Roman" panose="02020603050405020304" pitchFamily="18" charset="0"/>
                <a:cs typeface="Times New Roman" panose="02020603050405020304" pitchFamily="18" charset="0"/>
              </a:rPr>
              <a:t>Algorithm</a:t>
            </a:r>
            <a:r>
              <a:rPr lang="en-US" altLang="en-IN" dirty="0">
                <a:latin typeface="Times New Roman" panose="02020603050405020304" pitchFamily="18" charset="0"/>
                <a:cs typeface="Times New Roman" panose="02020603050405020304" pitchFamily="18" charset="0"/>
              </a:rPr>
              <a:t> - Random forest a</a:t>
            </a:r>
            <a:r>
              <a:rPr lang="en-IN" dirty="0">
                <a:latin typeface="Times New Roman" panose="02020603050405020304" pitchFamily="18" charset="0"/>
                <a:cs typeface="Times New Roman" panose="02020603050405020304" pitchFamily="18" charset="0"/>
                <a:sym typeface="+mn-ea"/>
              </a:rPr>
              <a:t>l</a:t>
            </a:r>
            <a:r>
              <a:rPr lang="en-US" altLang="en-IN" dirty="0">
                <a:latin typeface="Times New Roman" panose="02020603050405020304" pitchFamily="18" charset="0"/>
                <a:cs typeface="Times New Roman" panose="02020603050405020304" pitchFamily="18" charset="0"/>
                <a:sym typeface="+mn-ea"/>
              </a:rPr>
              <a:t>gorithm</a:t>
            </a:r>
            <a:endParaRPr lang="en-IN" dirty="0">
              <a:latin typeface="Times New Roman" panose="02020603050405020304" pitchFamily="18" charset="0"/>
              <a:cs typeface="Times New Roman" panose="02020603050405020304" pitchFamily="18" charset="0"/>
            </a:endParaRPr>
          </a:p>
          <a:p>
            <a:pPr algn="l">
              <a:buFont typeface="Arial" panose="020B0604020202020204" pitchFamily="34" charset="0"/>
            </a:pPr>
            <a:r>
              <a:rPr lang="en-US" altLang="en-IN" dirty="0">
                <a:latin typeface="Times New Roman" panose="02020603050405020304" pitchFamily="18" charset="0"/>
                <a:cs typeface="Times New Roman" panose="02020603050405020304" pitchFamily="18" charset="0"/>
              </a:rPr>
              <a:t>4.   </a:t>
            </a:r>
            <a:r>
              <a:rPr lang="en-IN" dirty="0">
                <a:latin typeface="Times New Roman" panose="02020603050405020304" pitchFamily="18" charset="0"/>
                <a:cs typeface="Times New Roman" panose="02020603050405020304" pitchFamily="18" charset="0"/>
              </a:rPr>
              <a:t>Learning process</a:t>
            </a:r>
          </a:p>
          <a:p>
            <a:pPr algn="l">
              <a:buFont typeface="Arial" panose="020B0604020202020204" pitchFamily="34" charset="0"/>
            </a:pPr>
            <a:r>
              <a:rPr lang="en-US" altLang="en-IN" dirty="0">
                <a:latin typeface="Times New Roman" panose="02020603050405020304" pitchFamily="18" charset="0"/>
                <a:cs typeface="Times New Roman" panose="02020603050405020304" pitchFamily="18" charset="0"/>
              </a:rPr>
              <a:t>5.   </a:t>
            </a:r>
            <a:r>
              <a:rPr lang="en-IN" dirty="0">
                <a:latin typeface="Times New Roman" panose="02020603050405020304" pitchFamily="18" charset="0"/>
                <a:cs typeface="Times New Roman" panose="02020603050405020304" pitchFamily="18" charset="0"/>
              </a:rPr>
              <a:t>Testing and Evaluation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81250"/>
          </a:xfrm>
        </p:spPr>
        <p:txBody>
          <a:bodyPr>
            <a:normAutofit/>
          </a:bodyPr>
          <a:lstStyle/>
          <a:p>
            <a:pPr algn="ctr"/>
            <a:r>
              <a:rPr lang="en-IN" sz="3200" dirty="0">
                <a:latin typeface="Times New Roman" panose="02020603050405020304" pitchFamily="18" charset="0"/>
                <a:cs typeface="Times New Roman" panose="02020603050405020304" pitchFamily="18" charset="0"/>
              </a:rPr>
              <a:t>REFERENCE </a:t>
            </a:r>
          </a:p>
        </p:txBody>
      </p:sp>
      <p:sp>
        <p:nvSpPr>
          <p:cNvPr id="3" name="Content Placeholder 2"/>
          <p:cNvSpPr>
            <a:spLocks noGrp="1"/>
          </p:cNvSpPr>
          <p:nvPr>
            <p:ph idx="1"/>
          </p:nvPr>
        </p:nvSpPr>
        <p:spPr>
          <a:xfrm>
            <a:off x="838200" y="1234911"/>
            <a:ext cx="10515600" cy="4942052"/>
          </a:xfrm>
        </p:spPr>
        <p:txBody>
          <a:bodyPr/>
          <a:lstStyle/>
          <a:p>
            <a:r>
              <a:rPr lang="en-IN" sz="2400" dirty="0">
                <a:solidFill>
                  <a:srgbClr val="FF0000"/>
                </a:solidFill>
                <a:latin typeface="Times New Roman" panose="02020603050405020304" pitchFamily="18" charset="0"/>
                <a:cs typeface="Times New Roman" panose="02020603050405020304" pitchFamily="18" charset="0"/>
              </a:rPr>
              <a:t>Shiyang Xuan, Guanjun Liu, Zhenchuan Li, Lutao Zheng, Shuo Wang and Changjun Jiang “</a:t>
            </a:r>
            <a:r>
              <a:rPr lang="en-US" sz="2400" dirty="0">
                <a:solidFill>
                  <a:srgbClr val="FF0000"/>
                </a:solidFill>
                <a:latin typeface="Times New Roman" panose="02020603050405020304" pitchFamily="18" charset="0"/>
                <a:cs typeface="Times New Roman" panose="02020603050405020304" pitchFamily="18" charset="0"/>
              </a:rPr>
              <a:t>Random Forest for Credit Card Fraud Detection”.IEEE 2018</a:t>
            </a:r>
          </a:p>
          <a:p>
            <a:r>
              <a:rPr lang="en-US" sz="2400" dirty="0">
                <a:solidFill>
                  <a:srgbClr val="0070C0"/>
                </a:solidFill>
                <a:latin typeface="Times New Roman" panose="02020603050405020304" pitchFamily="18" charset="0"/>
                <a:cs typeface="Times New Roman" panose="02020603050405020304" pitchFamily="18" charset="0"/>
              </a:rPr>
              <a:t>Y. Gmbh and K. G. Co, “Global online payment methods: Full year 2016,” Tech. Rep., 3 2016.</a:t>
            </a:r>
            <a:endParaRPr lang="en-IN" sz="2400" dirty="0">
              <a:solidFill>
                <a:srgbClr val="0070C0"/>
              </a:solidFill>
              <a:latin typeface="Times New Roman" panose="02020603050405020304" pitchFamily="18" charset="0"/>
              <a:cs typeface="Times New Roman" panose="02020603050405020304" pitchFamily="18" charset="0"/>
            </a:endParaRPr>
          </a:p>
          <a:p>
            <a:r>
              <a:rPr lang="en-US" sz="2400" dirty="0">
                <a:solidFill>
                  <a:srgbClr val="0070C0"/>
                </a:solidFill>
                <a:latin typeface="Times New Roman" panose="02020603050405020304" pitchFamily="18" charset="0"/>
                <a:cs typeface="Times New Roman" panose="02020603050405020304" pitchFamily="18" charset="0"/>
              </a:rPr>
              <a:t>Gupta, Shalini, and R. Johari. ”A New Framework for Credit Card Transactions Involving Mutual Authentication between Cardholder and Merchant.” International Conference on Communication Systems and Network Technologies IEEE, 2011:22-26</a:t>
            </a:r>
          </a:p>
          <a:p>
            <a:r>
              <a:rPr lang="en-US" sz="2400" dirty="0">
                <a:solidFill>
                  <a:srgbClr val="0070C0"/>
                </a:solidFill>
                <a:latin typeface="Times New Roman" panose="02020603050405020304" pitchFamily="18" charset="0"/>
                <a:cs typeface="Times New Roman" panose="02020603050405020304" pitchFamily="18" charset="0"/>
              </a:rPr>
              <a:t>Bolton, Richard J., and J. H. David. ”Unsupervised Profiling Methods for Fraud Detection.” Proc Credit Scoring and Credit Control VII (2001):5– 7.</a:t>
            </a:r>
          </a:p>
          <a:p>
            <a:r>
              <a:rPr lang="en-IN" sz="2400" dirty="0">
                <a:solidFill>
                  <a:srgbClr val="0070C0"/>
                </a:solidFill>
                <a:latin typeface="Times New Roman" panose="02020603050405020304" pitchFamily="18" charset="0"/>
                <a:cs typeface="Times New Roman" panose="02020603050405020304" pitchFamily="18" charset="0"/>
              </a:rPr>
              <a:t>Seyedhossein, Leila, and M. R. Hashemi. ”Mining information from credit card time series for timelier fraud detection.” International Symposium on Telecommunications IEEE, 2011:619-624.</a:t>
            </a:r>
          </a:p>
          <a:p>
            <a:endParaRPr lang="en-IN" dirty="0">
              <a:solidFill>
                <a:srgbClr val="FF0000"/>
              </a:solidFill>
            </a:endParaRPr>
          </a:p>
          <a:p>
            <a:endParaRPr lang="en-IN" dirty="0">
              <a:solidFill>
                <a:srgbClr val="FF0000"/>
              </a:solidFill>
            </a:endParaRPr>
          </a:p>
          <a:p>
            <a:endParaRPr lang="en-IN" dirty="0">
              <a:solidFill>
                <a:srgbClr val="FF0000"/>
              </a:solidFill>
            </a:endParaRPr>
          </a:p>
          <a:p>
            <a:endParaRPr lang="en-IN" dirty="0">
              <a:solidFill>
                <a:srgbClr val="FF00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924347" y="2967335"/>
            <a:ext cx="3844899" cy="923330"/>
          </a:xfrm>
          <a:prstGeom prst="rect">
            <a:avLst/>
          </a:prstGeom>
          <a:noFill/>
        </p:spPr>
        <p:txBody>
          <a:bodyPr wrap="none" lIns="91440" tIns="45720" rIns="91440" bIns="45720">
            <a:spAutoFit/>
          </a:bodyPr>
          <a:lstStyle/>
          <a:p>
            <a:pPr algn="ctr"/>
            <a:r>
              <a:rPr lang="en-US" sz="5400" b="1" cap="none" spc="0"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102</TotalTime>
  <Words>1165</Words>
  <Application>Microsoft Office PowerPoint</Application>
  <PresentationFormat>Widescreen</PresentationFormat>
  <Paragraphs>73</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Calibri Light</vt:lpstr>
      <vt:lpstr>Courier New</vt:lpstr>
      <vt:lpstr>Times New Roman</vt:lpstr>
      <vt:lpstr>Wingdings</vt:lpstr>
      <vt:lpstr>Office Theme</vt:lpstr>
      <vt:lpstr>CREDIT CARD FRAUD DETECTION USING MACHINE LEARNING </vt:lpstr>
      <vt:lpstr>ABSTRACT</vt:lpstr>
      <vt:lpstr>INTRODUCTION</vt:lpstr>
      <vt:lpstr>LITERATURE SURVEY</vt:lpstr>
      <vt:lpstr>PowerPoint Presentation</vt:lpstr>
      <vt:lpstr>EXISTING SYSTEM</vt:lpstr>
      <vt:lpstr>Disadvantages:</vt:lpstr>
      <vt:lpstr>PROPOSED SYSTEM</vt:lpstr>
      <vt:lpstr>MODULES</vt:lpstr>
      <vt:lpstr>REFERENCE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CREDIT CARD FRAUD DETECTION</dc:title>
  <dc:creator>Naseela K T</dc:creator>
  <cp:lastModifiedBy>Naseela K T</cp:lastModifiedBy>
  <cp:revision>32</cp:revision>
  <dcterms:created xsi:type="dcterms:W3CDTF">2021-03-28T01:41:00Z</dcterms:created>
  <dcterms:modified xsi:type="dcterms:W3CDTF">2021-04-15T16:14:30Z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1033-11.2.0.10078</vt:lpwstr>
  </property>
</Properties>
</file>