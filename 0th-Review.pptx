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58" r:id="rId4"/>
    <p:sldId id="260" r:id="rId5"/>
    <p:sldId id="264" r:id="rId6"/>
    <p:sldId id="26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eela K T" userId="3d28eb2928cf7789" providerId="LiveId" clId="{EF62BD0A-49CE-4274-A5AF-93CCC5DF9084}"/>
    <pc:docChg chg="addSld delSld modSld">
      <pc:chgData name="Naseela K T" userId="3d28eb2928cf7789" providerId="LiveId" clId="{EF62BD0A-49CE-4274-A5AF-93CCC5DF9084}" dt="2021-04-15T16:21:14.426" v="4" actId="208"/>
      <pc:docMkLst>
        <pc:docMk/>
      </pc:docMkLst>
      <pc:sldChg chg="new del">
        <pc:chgData name="Naseela K T" userId="3d28eb2928cf7789" providerId="LiveId" clId="{EF62BD0A-49CE-4274-A5AF-93CCC5DF9084}" dt="2021-04-15T16:18:03.055" v="2" actId="2696"/>
        <pc:sldMkLst>
          <pc:docMk/>
          <pc:sldMk cId="1942924415" sldId="258"/>
        </pc:sldMkLst>
      </pc:sldChg>
      <pc:sldChg chg="add">
        <pc:chgData name="Naseela K T" userId="3d28eb2928cf7789" providerId="LiveId" clId="{EF62BD0A-49CE-4274-A5AF-93CCC5DF9084}" dt="2021-04-15T16:17:56.914" v="1"/>
        <pc:sldMkLst>
          <pc:docMk/>
          <pc:sldMk cId="0" sldId="259"/>
        </pc:sldMkLst>
      </pc:sldChg>
      <pc:sldChg chg="modSp mod">
        <pc:chgData name="Naseela K T" userId="3d28eb2928cf7789" providerId="LiveId" clId="{EF62BD0A-49CE-4274-A5AF-93CCC5DF9084}" dt="2021-04-15T16:21:14.426" v="4" actId="208"/>
        <pc:sldMkLst>
          <pc:docMk/>
          <pc:sldMk cId="0" sldId="267"/>
        </pc:sldMkLst>
        <pc:spChg chg="mod">
          <ac:chgData name="Naseela K T" userId="3d28eb2928cf7789" providerId="LiveId" clId="{EF62BD0A-49CE-4274-A5AF-93CCC5DF9084}" dt="2021-04-15T16:21:14.426" v="4" actId="208"/>
          <ac:spMkLst>
            <pc:docMk/>
            <pc:sldMk cId="0" sldId="267"/>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1246074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3587382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3236789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36425A1-91AB-4246-8B70-7ABF5B8C469D}" type="datetimeFigureOut">
              <a:rPr lang="en-IN" smtClean="0"/>
              <a:t>15-04-2021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2826626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36425A1-91AB-4246-8B70-7ABF5B8C469D}" type="datetimeFigureOut">
              <a:rPr lang="en-IN" smtClean="0"/>
              <a:t>15-04-2021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350268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36425A1-91AB-4246-8B70-7ABF5B8C469D}" type="datetimeFigureOut">
              <a:rPr lang="en-IN" smtClean="0"/>
              <a:t>15-04-2021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2148589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6425A1-91AB-4246-8B70-7ABF5B8C469D}" type="datetimeFigureOut">
              <a:rPr lang="en-IN" smtClean="0"/>
              <a:t>15-04-2021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4202778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6425A1-91AB-4246-8B70-7ABF5B8C469D}" type="datetimeFigureOut">
              <a:rPr lang="en-IN" smtClean="0"/>
              <a:t>15-04-2021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3370828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6425A1-91AB-4246-8B70-7ABF5B8C469D}" type="datetimeFigureOut">
              <a:rPr lang="en-IN" smtClean="0"/>
              <a:t>15-04-2021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76789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405284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2670043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6425A1-91AB-4246-8B70-7ABF5B8C469D}" type="datetimeFigureOut">
              <a:rPr lang="en-IN" smtClean="0"/>
              <a:t>15-04-2021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75A60-5270-4127-9B16-D8F7221487A0}" type="slidenum">
              <a:rPr lang="en-IN" smtClean="0"/>
              <a:t>‹#›</a:t>
            </a:fld>
            <a:endParaRPr lang="en-IN"/>
          </a:p>
        </p:txBody>
      </p:sp>
    </p:spTree>
    <p:extLst>
      <p:ext uri="{BB962C8B-B14F-4D97-AF65-F5344CB8AC3E}">
        <p14:creationId xmlns:p14="http://schemas.microsoft.com/office/powerpoint/2010/main" val="15677992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54145"/>
            <a:ext cx="9144000" cy="659876"/>
          </a:xfrm>
        </p:spPr>
        <p:txBody>
          <a:bodyPr>
            <a:normAutofit fontScale="90000"/>
          </a:bodyPr>
          <a:lstStyle/>
          <a:p>
            <a:r>
              <a:rPr lang="en-IN" sz="3600" b="1" dirty="0">
                <a:latin typeface="Times New Roman" panose="02020603050405020304" pitchFamily="18" charset="0"/>
                <a:cs typeface="Times New Roman" panose="02020603050405020304" pitchFamily="18" charset="0"/>
              </a:rPr>
              <a:t>CREDIT CARD FRAUD DETECTION USING MACHINE LEARNING </a:t>
            </a:r>
          </a:p>
        </p:txBody>
      </p:sp>
      <p:sp>
        <p:nvSpPr>
          <p:cNvPr id="4" name="Rectangle 3"/>
          <p:cNvSpPr/>
          <p:nvPr/>
        </p:nvSpPr>
        <p:spPr>
          <a:xfrm>
            <a:off x="4193762" y="1637206"/>
            <a:ext cx="3849131"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Domain : </a:t>
            </a:r>
            <a:r>
              <a:rPr kumimoji="0" lang="en-IN"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Machine Learning</a:t>
            </a:r>
            <a:endParaRPr kumimoji="0" lang="en-IN"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5" name="Subtitle 2"/>
          <p:cNvSpPr txBox="1"/>
          <p:nvPr/>
        </p:nvSpPr>
        <p:spPr>
          <a:xfrm>
            <a:off x="6359110" y="3009900"/>
            <a:ext cx="5782090" cy="2921000"/>
          </a:xfrm>
          <a:prstGeom prst="rect">
            <a:avLst/>
          </a:prstGeom>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altLang="en-US" sz="14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Project Done by</a:t>
            </a: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Irfana K V (Reg.No: 720917104020)</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Naseela K T (Reg.No: 720917104036)</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Akshay Sivaraj (Reg.No: 720917104701)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Final Year, Department of Computer Science and Engineering,</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JCT College of Engineering and Technology, Pichanur, Coimbatore</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p:txBody>
      </p:sp>
      <p:sp>
        <p:nvSpPr>
          <p:cNvPr id="6" name="Subtitle 2"/>
          <p:cNvSpPr txBox="1"/>
          <p:nvPr/>
        </p:nvSpPr>
        <p:spPr>
          <a:xfrm>
            <a:off x="903389" y="3524888"/>
            <a:ext cx="5214938" cy="2586037"/>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Guided by</a:t>
            </a: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Mr.G.Deeban Chakkarawarthi,M.E,MBA,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Assistant Professor,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Department of Computer Science and Engineering,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JCT College of Engineering and Technology,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Pichanur,Coimbatore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1659"/>
            <a:ext cx="9144000" cy="537327"/>
          </a:xfrm>
        </p:spPr>
        <p:txBody>
          <a:bodyPr>
            <a:normAutofit/>
          </a:bodyPr>
          <a:lstStyle/>
          <a:p>
            <a:r>
              <a:rPr lang="en-IN" sz="3200" dirty="0">
                <a:latin typeface="Times New Roman" panose="02020603050405020304" pitchFamily="18" charset="0"/>
                <a:cs typeface="Times New Roman" panose="02020603050405020304" pitchFamily="18" charset="0"/>
              </a:rPr>
              <a:t>ABSTRACT</a:t>
            </a:r>
          </a:p>
        </p:txBody>
      </p:sp>
      <p:sp>
        <p:nvSpPr>
          <p:cNvPr id="3" name="Subtitle 2"/>
          <p:cNvSpPr>
            <a:spLocks noGrp="1"/>
          </p:cNvSpPr>
          <p:nvPr>
            <p:ph type="subTitle" idx="1"/>
          </p:nvPr>
        </p:nvSpPr>
        <p:spPr>
          <a:xfrm>
            <a:off x="669303" y="961535"/>
            <a:ext cx="10897386" cy="5429838"/>
          </a:xfrm>
        </p:spPr>
        <p:txBody>
          <a:bodyPr>
            <a:normAutofit fontScale="92500"/>
          </a:bodyPr>
          <a:lstStyle/>
          <a:p>
            <a:pPr marL="342900" indent="-342900" algn="just">
              <a:lnSpc>
                <a:spcPct val="120000"/>
              </a:lnSpc>
              <a:buFont typeface="Arial" panose="020B0604020202020204" pitchFamily="34" charset="0"/>
              <a:buChar char="•"/>
              <a:defRPr/>
            </a:pP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Credit card fraud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events take place frequently and then result in huge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losses</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Criminals can use some technologies such as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Trojan</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Phishing</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steal the information of other people’s credit cards.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Therefore, an effective fraud detection method is important since it can identify a fraud in time when a criminal uses a stolen card to consume.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One method is to make full use of the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historical transaction data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including normal transactions and fraud ones to obtain normal/fraud behavior features based on machine learning techniques, and then utilize these features to check if a transaction is fraud or not.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 this paper, Machine Learning algorithm is used to train the behavior features of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normal</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and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abnormal</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transactions.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We implement this using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Random forest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machine learning algorithm in OpenCV and analyze the performance on credit fraud detection.</a:t>
            </a: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09048"/>
            <a:ext cx="9144000" cy="612742"/>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type="subTitle" idx="1"/>
          </p:nvPr>
        </p:nvSpPr>
        <p:spPr>
          <a:xfrm>
            <a:off x="707011" y="1244338"/>
            <a:ext cx="10887958" cy="5005634"/>
          </a:xfrm>
        </p:spPr>
        <p:txBody>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Fraud</a:t>
            </a:r>
            <a:r>
              <a:rPr lang="en-US" dirty="0">
                <a:latin typeface="Times New Roman" panose="02020603050405020304" pitchFamily="18" charset="0"/>
                <a:cs typeface="Times New Roman" panose="02020603050405020304" pitchFamily="18" charset="0"/>
              </a:rPr>
              <a:t>’ in credit card transactions is </a:t>
            </a:r>
            <a:r>
              <a:rPr lang="en-US" b="1" i="1" dirty="0">
                <a:latin typeface="Times New Roman" panose="02020603050405020304" pitchFamily="18" charset="0"/>
                <a:cs typeface="Times New Roman" panose="02020603050405020304" pitchFamily="18" charset="0"/>
              </a:rPr>
              <a:t>unauthorized</a:t>
            </a:r>
            <a:r>
              <a:rPr lang="en-US" dirty="0">
                <a:latin typeface="Times New Roman" panose="02020603050405020304" pitchFamily="18" charset="0"/>
                <a:cs typeface="Times New Roman" panose="02020603050405020304" pitchFamily="18" charset="0"/>
              </a:rPr>
              <a:t> and </a:t>
            </a:r>
            <a:r>
              <a:rPr lang="en-US" b="1" i="1" dirty="0">
                <a:latin typeface="Times New Roman" panose="02020603050405020304" pitchFamily="18" charset="0"/>
                <a:cs typeface="Times New Roman" panose="02020603050405020304" pitchFamily="18" charset="0"/>
              </a:rPr>
              <a:t>unwanted</a:t>
            </a:r>
            <a:r>
              <a:rPr lang="en-US" dirty="0">
                <a:latin typeface="Times New Roman" panose="02020603050405020304" pitchFamily="18" charset="0"/>
                <a:cs typeface="Times New Roman" panose="02020603050405020304" pitchFamily="18" charset="0"/>
              </a:rPr>
              <a:t> usage of an account by </a:t>
            </a:r>
            <a:r>
              <a:rPr lang="en-US" b="1" i="1" dirty="0">
                <a:latin typeface="Times New Roman" panose="02020603050405020304" pitchFamily="18" charset="0"/>
                <a:cs typeface="Times New Roman" panose="02020603050405020304" pitchFamily="18" charset="0"/>
              </a:rPr>
              <a:t>someone</a:t>
            </a:r>
            <a:r>
              <a:rPr lang="en-US" dirty="0">
                <a:latin typeface="Times New Roman" panose="02020603050405020304" pitchFamily="18" charset="0"/>
                <a:cs typeface="Times New Roman" panose="02020603050405020304" pitchFamily="18" charset="0"/>
              </a:rPr>
              <a:t> other than the owner of that account.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Necessary prevention measures can be taken to stop this abuse and the behaviour of such fraudulent practices can be studied to minimize it and protect against similar occurrences in the future.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a very relevant problem that demands the attention of communities such as </a:t>
            </a:r>
            <a:r>
              <a:rPr lang="en-US" b="1" i="1" dirty="0">
                <a:latin typeface="Times New Roman" panose="02020603050405020304" pitchFamily="18" charset="0"/>
                <a:cs typeface="Times New Roman" panose="02020603050405020304" pitchFamily="18" charset="0"/>
              </a:rPr>
              <a:t>machine learning </a:t>
            </a:r>
            <a:r>
              <a:rPr lang="en-US" dirty="0">
                <a:latin typeface="Times New Roman" panose="02020603050405020304" pitchFamily="18" charset="0"/>
                <a:cs typeface="Times New Roman" panose="02020603050405020304" pitchFamily="18" charset="0"/>
              </a:rPr>
              <a:t>and </a:t>
            </a:r>
            <a:r>
              <a:rPr lang="en-US" b="1" i="1" dirty="0">
                <a:latin typeface="Times New Roman" panose="02020603050405020304" pitchFamily="18" charset="0"/>
                <a:cs typeface="Times New Roman" panose="02020603050405020304" pitchFamily="18" charset="0"/>
              </a:rPr>
              <a:t>data science </a:t>
            </a:r>
            <a:r>
              <a:rPr lang="en-US" dirty="0">
                <a:latin typeface="Times New Roman" panose="02020603050405020304" pitchFamily="18" charset="0"/>
                <a:cs typeface="Times New Roman" panose="02020603050405020304" pitchFamily="18" charset="0"/>
              </a:rPr>
              <a:t>where the solution to this problem can be automated.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number of valid transactions far outnumber fraudulent ones. Also, the transaction patterns often change their statistical properties over the course of time.</a:t>
            </a:r>
          </a:p>
          <a:p>
            <a:pPr marL="342900" indent="-342900" algn="just">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Machine learning algorithms </a:t>
            </a:r>
            <a:r>
              <a:rPr lang="en-US" dirty="0">
                <a:latin typeface="Times New Roman" panose="02020603050405020304" pitchFamily="18" charset="0"/>
                <a:cs typeface="Times New Roman" panose="02020603050405020304" pitchFamily="18" charset="0"/>
              </a:rPr>
              <a:t>are employed to analyse all the </a:t>
            </a:r>
            <a:r>
              <a:rPr lang="en-US" b="1" i="1" dirty="0">
                <a:latin typeface="Times New Roman" panose="02020603050405020304" pitchFamily="18" charset="0"/>
                <a:cs typeface="Times New Roman" panose="02020603050405020304" pitchFamily="18" charset="0"/>
              </a:rPr>
              <a:t>authorized</a:t>
            </a:r>
            <a:r>
              <a:rPr lang="en-US" dirty="0">
                <a:latin typeface="Times New Roman" panose="02020603050405020304" pitchFamily="18" charset="0"/>
                <a:cs typeface="Times New Roman" panose="02020603050405020304" pitchFamily="18" charset="0"/>
              </a:rPr>
              <a:t> transactions and report the </a:t>
            </a:r>
            <a:r>
              <a:rPr lang="en-US" b="1" i="1" dirty="0">
                <a:latin typeface="Times New Roman" panose="02020603050405020304" pitchFamily="18" charset="0"/>
                <a:cs typeface="Times New Roman" panose="02020603050405020304" pitchFamily="18" charset="0"/>
              </a:rPr>
              <a:t>suspicious</a:t>
            </a:r>
            <a:r>
              <a:rPr lang="en-US" dirty="0">
                <a:latin typeface="Times New Roman" panose="02020603050405020304" pitchFamily="18" charset="0"/>
                <a:cs typeface="Times New Roman" panose="02020603050405020304" pitchFamily="18" charset="0"/>
              </a:rPr>
              <a:t> ones.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43061"/>
            <a:ext cx="9144000" cy="688156"/>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sp>
        <p:nvSpPr>
          <p:cNvPr id="3" name="Subtitle 2"/>
          <p:cNvSpPr>
            <a:spLocks noGrp="1"/>
          </p:cNvSpPr>
          <p:nvPr>
            <p:ph type="subTitle" idx="1"/>
          </p:nvPr>
        </p:nvSpPr>
        <p:spPr>
          <a:xfrm>
            <a:off x="772998" y="1310326"/>
            <a:ext cx="10595728" cy="4949072"/>
          </a:xfrm>
        </p:spPr>
        <p:txBody>
          <a:bodyPr/>
          <a:lstStyle/>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lang="en-US" sz="2200" dirty="0">
                <a:latin typeface="Times New Roman" panose="02020603050405020304" pitchFamily="18" charset="0"/>
                <a:cs typeface="Times New Roman" panose="02020603050405020304" pitchFamily="18" charset="0"/>
              </a:rPr>
              <a:t>A similar research domain was presented by </a:t>
            </a:r>
            <a:r>
              <a:rPr lang="en-IN" sz="2200" dirty="0">
                <a:latin typeface="Times New Roman" panose="02020603050405020304" pitchFamily="18" charset="0"/>
                <a:cs typeface="Times New Roman" panose="02020603050405020304" pitchFamily="18" charset="0"/>
              </a:rPr>
              <a:t>S P Maniraj, Aditya Saini, and Swarna Deep Sarkar </a:t>
            </a:r>
            <a:r>
              <a:rPr lang="en-IN" sz="2200" i="1" dirty="0">
                <a:latin typeface="Times New Roman" panose="02020603050405020304" pitchFamily="18" charset="0"/>
                <a:cs typeface="Times New Roman" panose="02020603050405020304" pitchFamily="18" charset="0"/>
              </a:rPr>
              <a:t>[ </a:t>
            </a:r>
            <a:r>
              <a:rPr kumimoji="0" lang="en-US" sz="22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International Journal of Engineering and Advanced Technology (IJEAT) ISSN: 2249-8958, Volume-8 Issue-5, June 2019</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where they used Machine Learning and Data Science</a:t>
            </a:r>
            <a:r>
              <a:rPr lang="en-US" sz="2200" dirty="0">
                <a:latin typeface="Times New Roman" panose="02020603050405020304" pitchFamily="18" charset="0"/>
                <a:cs typeface="Times New Roman" panose="02020603050405020304" pitchFamily="18" charset="0"/>
              </a:rPr>
              <a:t>. This paper has explained in detail, how machine learning can be applied to get better results in fraud detection along with the algorithm, pseudocode, explanation its implementation and experimentation results. It end up creating a system that can, with enough time and data.</a:t>
            </a: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lang="en-US" sz="2200" dirty="0">
                <a:latin typeface="Times New Roman" panose="02020603050405020304" pitchFamily="18" charset="0"/>
                <a:cs typeface="Times New Roman" panose="02020603050405020304" pitchFamily="18" charset="0"/>
              </a:rPr>
              <a:t>Another paper was done by </a:t>
            </a:r>
            <a:r>
              <a:rPr lang="en-IN" sz="2200" dirty="0">
                <a:latin typeface="Times New Roman" panose="02020603050405020304" pitchFamily="18" charset="0"/>
                <a:cs typeface="Times New Roman" panose="02020603050405020304" pitchFamily="18" charset="0"/>
              </a:rPr>
              <a:t>Sahayasakila.V, D. Kavya Monisha, Aishwarya, Sikhakolli VenkatavisalakshiseshsaiYasaswi on “</a:t>
            </a:r>
            <a:r>
              <a:rPr lang="en-US" sz="2200" dirty="0">
                <a:latin typeface="Times New Roman" panose="02020603050405020304" pitchFamily="18" charset="0"/>
                <a:cs typeface="Times New Roman" panose="02020603050405020304" pitchFamily="18" charset="0"/>
              </a:rPr>
              <a:t>Credit Card Fraud Detection System using Smote Technique and Whale Optimization Algorithm” [</a:t>
            </a:r>
            <a:r>
              <a:rPr lang="en-US" sz="2200" i="1" dirty="0">
                <a:latin typeface="Times New Roman" panose="02020603050405020304" pitchFamily="18" charset="0"/>
                <a:cs typeface="Times New Roman" panose="02020603050405020304" pitchFamily="18" charset="0"/>
              </a:rPr>
              <a:t>International Journal of Engineering and Advanced Technology (IJEAT) ISSN: 2249-8958, Volume-8 Issue-5, June 2019</a:t>
            </a:r>
            <a:r>
              <a:rPr lang="en-US" sz="2200" dirty="0">
                <a:latin typeface="Times New Roman" panose="02020603050405020304" pitchFamily="18" charset="0"/>
                <a:cs typeface="Times New Roman" panose="02020603050405020304" pitchFamily="18" charset="0"/>
              </a:rPr>
              <a:t>] their aims in indentifying the fraud transactions occurring during the transactions made by the card holder. The system also aims to improve the convergence speed and solves the data imbalance.</a:t>
            </a:r>
          </a:p>
          <a:p>
            <a:pPr marR="0" lvl="0" algn="just" defTabSz="914400" rtl="0" eaLnBrk="1" fontAlgn="auto" latinLnBrk="0" hangingPunct="1">
              <a:lnSpc>
                <a:spcPct val="90000"/>
              </a:lnSpc>
              <a:spcBef>
                <a:spcPts val="1000"/>
              </a:spcBef>
              <a:spcAft>
                <a:spcPts val="0"/>
              </a:spcAft>
              <a:buClrTx/>
              <a:buSzTx/>
              <a:defRPr/>
            </a:pPr>
            <a:endParaRPr lang="en-US" sz="2000" dirty="0"/>
          </a:p>
          <a:p>
            <a:pPr marL="342900" indent="-342900" algn="l">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3571" y="659876"/>
            <a:ext cx="10583244" cy="5787279"/>
          </a:xfrm>
        </p:spPr>
        <p:txBody>
          <a:bodyPr>
            <a:normAutofit/>
          </a:bodyPr>
          <a:lstStyle/>
          <a:p>
            <a:pPr marL="342900" indent="-342900" algn="just">
              <a:buFont typeface="Wingdings" panose="05000000000000000000" pitchFamily="2" charset="2"/>
              <a:buChar char="Ø"/>
            </a:pPr>
            <a:endParaRPr lang="en-US" altLang="en-IN"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IN" sz="2200" dirty="0">
                <a:latin typeface="Times New Roman" panose="02020603050405020304" pitchFamily="18" charset="0"/>
                <a:cs typeface="Times New Roman" panose="02020603050405020304" pitchFamily="18" charset="0"/>
              </a:rPr>
              <a:t>A research paper was presented by Lakshmi S ,V S SSelvani and Deepthi Kavila [</a:t>
            </a:r>
            <a:r>
              <a:rPr lang="en-US" sz="2200" i="1" dirty="0">
                <a:latin typeface="Times New Roman" panose="02020603050405020304" pitchFamily="18" charset="0"/>
                <a:cs typeface="Times New Roman" panose="02020603050405020304" pitchFamily="18" charset="0"/>
                <a:sym typeface="+mn-ea"/>
              </a:rPr>
              <a:t>International Journal of Applied Engineering Research ISSN 0973-4562 Volume 13, Number 24 (2018)] </a:t>
            </a:r>
            <a:r>
              <a:rPr lang="en-US" sz="2200" dirty="0">
                <a:latin typeface="Times New Roman" panose="02020603050405020304" pitchFamily="18" charset="0"/>
                <a:cs typeface="Times New Roman" panose="02020603050405020304" pitchFamily="18" charset="0"/>
                <a:sym typeface="+mn-ea"/>
              </a:rPr>
              <a:t>In this paper, Machine learning technique like Logistic </a:t>
            </a:r>
            <a:r>
              <a:rPr lang="en-US" sz="2200" dirty="0">
                <a:latin typeface="Times New Roman" panose="02020603050405020304" pitchFamily="18" charset="0"/>
                <a:cs typeface="Times New Roman" panose="02020603050405020304" pitchFamily="18" charset="0"/>
              </a:rPr>
              <a:t>regression, Decision Tree and Random forest were used to detect the fraud in </a:t>
            </a:r>
            <a:r>
              <a:rPr lang="en-US" altLang="en-IN" sz="2200" dirty="0">
                <a:latin typeface="Times New Roman" panose="02020603050405020304" pitchFamily="18" charset="0"/>
                <a:cs typeface="Times New Roman" panose="02020603050405020304" pitchFamily="18" charset="0"/>
              </a:rPr>
              <a:t>credit card system. Sensitivity, Specificity,accuracy and error rate are used to evaluate the performance for the proposed system.</a:t>
            </a:r>
          </a:p>
          <a:p>
            <a:pPr marL="342900" indent="-342900" algn="just">
              <a:lnSpc>
                <a:spcPct val="100000"/>
              </a:lnSpc>
              <a:buFont typeface="Wingdings" panose="05000000000000000000" charset="0"/>
              <a:buChar char="Ø"/>
            </a:pPr>
            <a:r>
              <a:rPr lang="en-US" altLang="en-IN" sz="2200" dirty="0">
                <a:latin typeface="Times New Roman" panose="02020603050405020304" pitchFamily="18" charset="0"/>
                <a:cs typeface="Times New Roman" panose="02020603050405020304" pitchFamily="18" charset="0"/>
              </a:rPr>
              <a:t>Another research paper was proposed by Mr.Manohar.s, Arvind Bedi, Shashank kumar and Shounak kr Singh[</a:t>
            </a:r>
            <a:r>
              <a:rPr lang="en-US" sz="2200" i="1" dirty="0">
                <a:latin typeface="Times New Roman" panose="02020603050405020304" pitchFamily="18" charset="0"/>
                <a:cs typeface="Times New Roman" panose="02020603050405020304" pitchFamily="18" charset="0"/>
                <a:sym typeface="+mn-ea"/>
              </a:rPr>
              <a:t>International Research Journal of Engineering and Technology (IRJET) Volume: 07 Issue: 04 | Apr 2020 </a:t>
            </a:r>
            <a:r>
              <a:rPr lang="en-US" sz="2200" dirty="0">
                <a:latin typeface="Times New Roman" panose="02020603050405020304" pitchFamily="18" charset="0"/>
                <a:cs typeface="Times New Roman" panose="02020603050405020304" pitchFamily="18" charset="0"/>
                <a:sym typeface="+mn-ea"/>
              </a:rPr>
              <a:t>] this paper introducing a </a:t>
            </a:r>
            <a:r>
              <a:rPr lang="en-US" sz="2200" dirty="0">
                <a:latin typeface="Times New Roman" panose="02020603050405020304" pitchFamily="18" charset="0"/>
                <a:cs typeface="Times New Roman" panose="02020603050405020304" pitchFamily="18" charset="0"/>
              </a:rPr>
              <a:t>fraud detection system for credit-cards by applying three  different algorithms  </a:t>
            </a:r>
            <a:r>
              <a:rPr lang="en-US" altLang="en-IN" sz="2200" dirty="0">
                <a:latin typeface="Times New Roman" panose="02020603050405020304" pitchFamily="18" charset="0"/>
                <a:cs typeface="Times New Roman" panose="02020603050405020304" pitchFamily="18" charset="0"/>
              </a:rPr>
              <a:t>and training our machine using these algorithms with the transaction records they have.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24347" y="2967335"/>
            <a:ext cx="3844899"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w="1905">
                  <a:solidFill>
                    <a:schemeClr val="accent2">
                      <a:lumMod val="50000"/>
                    </a:schemeClr>
                  </a:solidFill>
                </a:ln>
                <a:solidFill>
                  <a:schemeClr val="accent2">
                    <a:lumMod val="75000"/>
                  </a:schemeClr>
                </a:solidFill>
                <a:effectLst>
                  <a:innerShdw blurRad="69850" dist="43180" dir="5400000">
                    <a:srgbClr val="000000">
                      <a:alpha val="65000"/>
                    </a:srgbClr>
                  </a:innerShdw>
                </a:effectLst>
                <a:uLnTx/>
                <a:uFillTx/>
                <a:latin typeface="Calibri"/>
                <a:ea typeface="+mn-ea"/>
                <a:cs typeface="+mn-cs"/>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720</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Times New Roman</vt:lpstr>
      <vt:lpstr>Wingdings</vt:lpstr>
      <vt:lpstr>1_Office Theme</vt:lpstr>
      <vt:lpstr>CREDIT CARD FRAUD DETECTION USING MACHINE LEARNING </vt:lpstr>
      <vt:lpstr>ABSTRACT</vt:lpstr>
      <vt:lpstr>INTRODUCTION</vt:lpstr>
      <vt:lpstr>LITERATURE SURVEY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 </dc:title>
  <dc:creator>Naseela K T</dc:creator>
  <cp:lastModifiedBy>Naseela K T</cp:lastModifiedBy>
  <cp:revision>1</cp:revision>
  <dcterms:created xsi:type="dcterms:W3CDTF">2021-04-15T16:16:41Z</dcterms:created>
  <dcterms:modified xsi:type="dcterms:W3CDTF">2021-04-15T16:21:18Z</dcterms:modified>
</cp:coreProperties>
</file>